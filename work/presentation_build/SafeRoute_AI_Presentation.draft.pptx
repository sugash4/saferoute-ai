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714e355a3847df" /><Relationship Type="http://schemas.openxmlformats.org/officeDocument/2006/relationships/extended-properties" Target="/docProps/app.xml" Id="R6006f31c7cf349a6" /><Relationship Type="http://schemas.openxmlformats.org/officeDocument/2006/relationships/officeDocument" Target="/ppt/presentation.xml" Id="R5b557786ad6a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6ce1bac2e4826"/>
  </p:sldMasterIdLst>
  <p:notesMasterIdLst>
    <p:notesMasterId xmlns:r="http://schemas.openxmlformats.org/officeDocument/2006/relationships" r:id="R0aeffdda2799406e"/>
  </p:notesMasterIdLst>
  <p:sldIdLst>
    <p:sldId xmlns:r="http://schemas.openxmlformats.org/officeDocument/2006/relationships" id="256" r:id="R967aae6b92ca4136"/>
    <p:sldId xmlns:r="http://schemas.openxmlformats.org/officeDocument/2006/relationships" id="257" r:id="R1366e6858a414714"/>
    <p:sldId xmlns:r="http://schemas.openxmlformats.org/officeDocument/2006/relationships" id="258" r:id="Reb4b4e1924dd4068"/>
    <p:sldId xmlns:r="http://schemas.openxmlformats.org/officeDocument/2006/relationships" id="259" r:id="Rbae76f0af1164888"/>
    <p:sldId xmlns:r="http://schemas.openxmlformats.org/officeDocument/2006/relationships" id="260" r:id="Rc039254c8031496d"/>
    <p:sldId xmlns:r="http://schemas.openxmlformats.org/officeDocument/2006/relationships" id="261" r:id="R6808bce062804276"/>
    <p:sldId xmlns:r="http://schemas.openxmlformats.org/officeDocument/2006/relationships" id="262" r:id="Rcc0c9214e4614a7c"/>
    <p:sldId xmlns:r="http://schemas.openxmlformats.org/officeDocument/2006/relationships" id="263" r:id="Rdff2d2a3096f4722"/>
    <p:sldId xmlns:r="http://schemas.openxmlformats.org/officeDocument/2006/relationships" id="264" r:id="Ree12c7aefff84952"/>
    <p:sldId xmlns:r="http://schemas.openxmlformats.org/officeDocument/2006/relationships" id="265" r:id="R456769a77ac442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2a11ea8af64fd9" /><Relationship Type="http://schemas.openxmlformats.org/officeDocument/2006/relationships/slideMaster" Target="/ppt/slideMasters/slideMaster1.xml" Id="R0316ce1bac2e4826" /><Relationship Type="http://schemas.openxmlformats.org/officeDocument/2006/relationships/notesMaster" Target="/ppt/notesMasters/notesMaster1.xml" Id="R0aeffdda2799406e" /><Relationship Type="http://schemas.openxmlformats.org/officeDocument/2006/relationships/presProps" Target="/ppt/presProps.xml" Id="R86f3beed712f4d1b" /><Relationship Type="http://schemas.openxmlformats.org/officeDocument/2006/relationships/tableStyles" Target="/ppt/tableStyles.xml" Id="Reabe879309344990" /><Relationship Type="http://schemas.openxmlformats.org/officeDocument/2006/relationships/slide" Target="/ppt/slides/slide1.xml" Id="R967aae6b92ca4136" /><Relationship Type="http://schemas.openxmlformats.org/officeDocument/2006/relationships/slide" Target="/ppt/slides/slide2.xml" Id="R1366e6858a414714" /><Relationship Type="http://schemas.openxmlformats.org/officeDocument/2006/relationships/slide" Target="/ppt/slides/slide3.xml" Id="Reb4b4e1924dd4068" /><Relationship Type="http://schemas.openxmlformats.org/officeDocument/2006/relationships/slide" Target="/ppt/slides/slide4.xml" Id="Rbae76f0af1164888" /><Relationship Type="http://schemas.openxmlformats.org/officeDocument/2006/relationships/slide" Target="/ppt/slides/slide5.xml" Id="Rc039254c8031496d" /><Relationship Type="http://schemas.openxmlformats.org/officeDocument/2006/relationships/slide" Target="/ppt/slides/slide6.xml" Id="R6808bce062804276" /><Relationship Type="http://schemas.openxmlformats.org/officeDocument/2006/relationships/slide" Target="/ppt/slides/slide7.xml" Id="Rcc0c9214e4614a7c" /><Relationship Type="http://schemas.openxmlformats.org/officeDocument/2006/relationships/slide" Target="/ppt/slides/slide8.xml" Id="Rdff2d2a3096f4722" /><Relationship Type="http://schemas.openxmlformats.org/officeDocument/2006/relationships/slide" Target="/ppt/slides/slide9.xml" Id="Ree12c7aefff84952" /><Relationship Type="http://schemas.openxmlformats.org/officeDocument/2006/relationships/slide" Target="/ppt/slides/slide10.xml" Id="R456769a77ac442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e6a480b8ce4a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881af06cb84af0" /><Relationship Type="http://schemas.openxmlformats.org/officeDocument/2006/relationships/notesMaster" Target="/ppt/notesMasters/notesMaster1.xml" Id="R133ae540c1a646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366317bbd44893" /><Relationship Type="http://schemas.openxmlformats.org/officeDocument/2006/relationships/notesMaster" Target="/ppt/notesMasters/notesMaster1.xml" Id="R6de9371103b2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29a631d9bc4b08" /><Relationship Type="http://schemas.openxmlformats.org/officeDocument/2006/relationships/notesMaster" Target="/ppt/notesMasters/notesMaster1.xml" Id="R91f9ffa8bcb64f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69d633d1a2422a" /><Relationship Type="http://schemas.openxmlformats.org/officeDocument/2006/relationships/notesMaster" Target="/ppt/notesMasters/notesMaster1.xml" Id="Ra6a616ac00164f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b7a20da8a34e0f" /><Relationship Type="http://schemas.openxmlformats.org/officeDocument/2006/relationships/notesMaster" Target="/ppt/notesMasters/notesMaster1.xml" Id="R7329d44a6ee543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45e5fb8a1547c2" /><Relationship Type="http://schemas.openxmlformats.org/officeDocument/2006/relationships/notesMaster" Target="/ppt/notesMasters/notesMaster1.xml" Id="Ra8683048e4d14c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e1a1cecca348c5" /><Relationship Type="http://schemas.openxmlformats.org/officeDocument/2006/relationships/notesMaster" Target="/ppt/notesMasters/notesMaster1.xml" Id="R194b4641204a46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6253e8e96c4e3f" /><Relationship Type="http://schemas.openxmlformats.org/officeDocument/2006/relationships/notesMaster" Target="/ppt/notesMasters/notesMaster1.xml" Id="R86e9d73561b74c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0993e7af4d47a2" /><Relationship Type="http://schemas.openxmlformats.org/officeDocument/2006/relationships/notesMaster" Target="/ppt/notesMasters/notesMaster1.xml" Id="Ra40befe4a1e246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cd7858e47446af" /><Relationship Type="http://schemas.openxmlformats.org/officeDocument/2006/relationships/notesMaster" Target="/ppt/notesMasters/notesMaster1.xml" Id="R90d41c6a110e49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SafeRoute AI as an explainable decision support system for emergency evacuation. State that every recommendation can be traced to search, probability, or optimization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state-space representation: a person occupies one graph node, actions traverse edges, and the goal test checks whether an exit is reached. The path cost combines distance, Bayesian risk, and optional congestion.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contrast uninformed and informed search. Emphasize that A star uses both accumulated cost and a heuristic. Mention that all four algorithms are implemented manually so the logic is visible for viva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Bayes rule equation to explain why the model does not treat a sensor as perfect. Multiple observations update the probability of danger, and that posterior probability becomes a path cost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Replanning tab. Select an edge, increase its hazard probability, and apply the event. The system replans from the current position and displays both the old and new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planning agents independently can overload the same route. This module evaluates joint exit assignments and penalizes shared corridors while respecting exit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chromosome as a set of selected locations. Fitness measures weighted response distance. Selection, crossover, mutation, and elitism produce better placements across generations.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the interface down to the domain model. Emphasize modularity: each algorithm is independent and tested, while the UI only coordinates inputs and visualizes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to show that the fewest expanded nodes does not necessarily mean the best route. In the fire scenario, A star accepts a longer physical route to obtain the lowest combined distance and risk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mapping the project to the syllabus and stating the limitations honestly. Then invite the evaluator to choose a scenario for a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d49f939de48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bec0b9c754a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6395d80a542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197b88f9843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588625e7f4d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2247f968c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3B038A-1E38-4521-832A-AEAB3D0B6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0BBEB5-EA7B-43B9-88CA-1D96CF2B27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B4C635-BEFE-4EA4-82AE-EA00ED2EC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1AB734-1832-42B2-9D10-F46CAD5DB4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A455EE-AD26-4CEB-976B-49811E071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B03FFA-641A-430A-B6FE-28FA9C556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E86DE5-BEAF-4784-8D7E-5774A2B4FB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2E7034-0EE8-448D-8F09-99FF568D93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5BBFB3-3245-49BE-821F-B5F2D2DA8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A16A37-9A27-4DB4-983B-C11E5CD9D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b6e4f09bcb4ff0" /><Relationship Type="http://schemas.openxmlformats.org/officeDocument/2006/relationships/slideLayout" Target="/ppt/slideLayouts/slideLayout1.xml" Id="R00f50272641b4d42" /><Relationship Type="http://schemas.openxmlformats.org/officeDocument/2006/relationships/slideLayout" Target="/ppt/slideLayouts/slideLayout2.xml" Id="R6f48d3eec2bb4171" /><Relationship Type="http://schemas.openxmlformats.org/officeDocument/2006/relationships/slideLayout" Target="/ppt/slideLayouts/slideLayout3.xml" Id="R4a07b953e3e64a03" /><Relationship Type="http://schemas.openxmlformats.org/officeDocument/2006/relationships/slideLayout" Target="/ppt/slideLayouts/slideLayout4.xml" Id="Rf3b4cbe3aed044f6" /><Relationship Type="http://schemas.openxmlformats.org/officeDocument/2006/relationships/slideLayout" Target="/ppt/slideLayouts/slideLayout5.xml" Id="R72c8cdafb5f34361" /><Relationship Type="http://schemas.openxmlformats.org/officeDocument/2006/relationships/slideLayout" Target="/ppt/slideLayouts/slideLayout6.xml" Id="Rd3330712a9c346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f50272641b4d42"/>
    <p:sldLayoutId xmlns:r="http://schemas.openxmlformats.org/officeDocument/2006/relationships" id="2147483650" r:id="R6f48d3eec2bb4171"/>
    <p:sldLayoutId xmlns:r="http://schemas.openxmlformats.org/officeDocument/2006/relationships" id="2147483651" r:id="R4a07b953e3e64a03"/>
    <p:sldLayoutId xmlns:r="http://schemas.openxmlformats.org/officeDocument/2006/relationships" id="2147483652" r:id="Rf3b4cbe3aed044f6"/>
    <p:sldLayoutId xmlns:r="http://schemas.openxmlformats.org/officeDocument/2006/relationships" id="2147483653" r:id="R72c8cdafb5f34361"/>
    <p:sldLayoutId xmlns:r="http://schemas.openxmlformats.org/officeDocument/2006/relationships" id="2147483654" r:id="Rd3330712a9c346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b893b72634e6f" /><Relationship Type="http://schemas.openxmlformats.org/officeDocument/2006/relationships/notesSlide" Target="/ppt/notesSlides/notesSlide1.xml" Id="Re34543041da1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4f6310c51404f" /><Relationship Type="http://schemas.openxmlformats.org/officeDocument/2006/relationships/notesSlide" Target="/ppt/notesSlides/notesSlide2.xml" Id="R13ce40433acb43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d7c6b24074402" /><Relationship Type="http://schemas.openxmlformats.org/officeDocument/2006/relationships/notesSlide" Target="/ppt/notesSlides/notesSlide3.xml" Id="R84047404cc2e40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a7a9ca3ad4a65" /><Relationship Type="http://schemas.openxmlformats.org/officeDocument/2006/relationships/notesSlide" Target="/ppt/notesSlides/notesSlide4.xml" Id="R834d867ec82b4d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21ac12269426e" /><Relationship Type="http://schemas.openxmlformats.org/officeDocument/2006/relationships/image" Target="/ppt/media/image.jpeg" Id="Rdf136cda5c7a4f17" /><Relationship Type="http://schemas.openxmlformats.org/officeDocument/2006/relationships/notesSlide" Target="/ppt/notesSlides/notesSlide5.xml" Id="Rb135d8a07acb41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87f4890a04473" /><Relationship Type="http://schemas.openxmlformats.org/officeDocument/2006/relationships/image" Target="/ppt/media/image2.jpeg" Id="R8377083debe44ebd" /><Relationship Type="http://schemas.openxmlformats.org/officeDocument/2006/relationships/notesSlide" Target="/ppt/notesSlides/notesSlide6.xml" Id="R0ef48351d09041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55d33bfc94c50" /><Relationship Type="http://schemas.openxmlformats.org/officeDocument/2006/relationships/image" Target="/ppt/media/image3.jpeg" Id="R050bef27ee474e60" /><Relationship Type="http://schemas.openxmlformats.org/officeDocument/2006/relationships/chart" Target="/ppt/slides/charts/chart1.xml" Id="R42e3dd36240e4d0f" /><Relationship Type="http://schemas.openxmlformats.org/officeDocument/2006/relationships/notesSlide" Target="/ppt/notesSlides/notesSlide7.xml" Id="R84f5d3a3f6df41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df64d97f64f5c" /><Relationship Type="http://schemas.openxmlformats.org/officeDocument/2006/relationships/notesSlide" Target="/ppt/notesSlides/notesSlide8.xml" Id="Rbc1e3d60020044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d83c0742347b0" /><Relationship Type="http://schemas.openxmlformats.org/officeDocument/2006/relationships/chart" Target="/ppt/slides/charts/chart2.xml" Id="Ra378b5267c334c3f" /><Relationship Type="http://schemas.openxmlformats.org/officeDocument/2006/relationships/notesSlide" Target="/ppt/notesSlides/notesSlide9.xml" Id="Rcf82f37592a143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fc305b4764194" /><Relationship Type="http://schemas.openxmlformats.org/officeDocument/2006/relationships/notesSlide" Target="/ppt/notesSlides/notesSlide10.xml" Id="R92c656df4eec499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Fitness</c:v>
          </c:tx>
          <c:spPr>
            <a:solidFill xmlns:a="http://schemas.openxmlformats.org/drawingml/2006/main">
              <a:srgbClr val="FBBF24"/>
            </a:solidFill>
          </c:spPr>
          <c:marker>
            <c:symbol val="none"/>
          </c:marker>
          <c:cat>
            <c:numLit>
              <c:formatCode>General</c:formatCode>
              <c:ptCount val="8"/>
              <c:pt idx="0">
                <c:v>0</c:v>
              </c:pt>
              <c:pt idx="1">
                <c:v>5</c:v>
              </c:pt>
              <c:pt idx="2">
                <c:v>10</c:v>
              </c:pt>
              <c:pt idx="3">
                <c:v>15</c:v>
              </c:pt>
              <c:pt idx="4">
                <c:v>20</c:v>
              </c:pt>
              <c:pt idx="5">
                <c:v>25</c:v>
              </c:pt>
              <c:pt idx="6">
                <c:v>30</c:v>
              </c:pt>
              <c:pt idx="7">
                <c:v>35</c:v>
              </c:pt>
            </c:numLit>
          </c:cat>
          <c:val>
            <c:numLit>
              <c:formatCode>General</c:formatCode>
              <c:ptCount val="8"/>
              <c:pt idx="0">
                <c:v>4.756</c:v>
              </c:pt>
              <c:pt idx="1">
                <c:v>4.756</c:v>
              </c:pt>
              <c:pt idx="2">
                <c:v>4.756</c:v>
              </c:pt>
              <c:pt idx="3">
                <c:v>4.756</c:v>
              </c:pt>
              <c:pt idx="4">
                <c:v>4.756</c:v>
              </c:pt>
              <c:pt idx="5">
                <c:v>4.478</c:v>
              </c:pt>
              <c:pt idx="6">
                <c:v>4.478</c:v>
              </c:pt>
              <c:pt idx="7">
                <c:v>4.478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35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Risk-aware cost</c:v>
          </c:tx>
          <c:spPr>
            <a:solidFill xmlns:a="http://schemas.openxmlformats.org/drawingml/2006/main">
              <a:srgbClr val="38BDF8"/>
            </a:solidFill>
          </c:spPr>
          <c:invertIfNegative val="0"/>
          <c:cat>
            <c:strLit>
              <c:ptCount val="4"/>
              <c:pt idx="0">
                <c:v>BFS</c:v>
              </c:pt>
              <c:pt idx="1">
                <c:v>DFS</c:v>
              </c:pt>
              <c:pt idx="2">
                <c:v>Greedy</c:v>
              </c:pt>
              <c:pt idx="3">
                <c:v>A*</c:v>
              </c:pt>
            </c:strLit>
          </c:cat>
          <c:val>
            <c:numLit>
              <c:formatCode>General</c:formatCode>
              <c:ptCount val="4"/>
              <c:pt idx="0">
                <c:v>33.875</c:v>
              </c:pt>
              <c:pt idx="1">
                <c:v>37</c:v>
              </c:pt>
              <c:pt idx="2">
                <c:v>33.875</c:v>
              </c:pt>
              <c:pt idx="3">
                <c:v>32.1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35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524DBA-456C-4AE6-A40E-B893DE27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132A5-D882-481B-8D61-F1B54150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ACADEMIC AI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1A629-3BF1-42BE-848B-D337B3D4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SafeRoute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90913-92F9-4364-9121-C7C8CC02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90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Explainable evacuation planning under uncertainty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C4D95-03F9-4C63-B3FF-C7B04FC0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Search algorithms  •  Bayesian risk  •  Dynamic planning</a:t>
            </a:r>
          </a:p>
          <a:p xmlns:a="http://schemas.openxmlformats.org/drawingml/2006/main">
            <a: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Multi-agent coordination  •  Genetic optimization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572CC-95FD-4766-89B8-C65743AB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19150"/>
            <a:ext cx="3429000" cy="45148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2CEC3-A32A-453A-AE96-614C3B7E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23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FROM SENSOR TO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DE81B-E7E6-4462-A07E-75F459C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72E77-66A1-4ADA-A61E-DE61B35F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5C50C-C961-4BDA-9F4F-5BF40D11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6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PERCEIVE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A8228-EFB4-492B-9B58-B9A21F73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05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Smoke and fire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1B98B-72D4-44AB-93F5-98F7ABE4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43D81-D26C-4776-B465-4603A4E6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61597-2311-4E9B-A48F-5DA8FE3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6C5AE-4960-4D93-B4E0-27BA0087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717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Bayesian edge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A9C3B-A51A-471F-AA8A-51108268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6233A-4A9D-41B0-B099-80CCD7B7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57BC6-EC66-46C6-8BBD-5F01497F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0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71394-EC92-4D51-BE3A-C946BFB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A* and live replanning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8F1FE-03AD-4B75-AE48-265B9EBF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81475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BB129-D43F-4FBD-A985-B374C2E1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3387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F5C1B-6B62-4D47-BF10-C58A71C3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67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33506-ECDB-45DE-A16E-1B17893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053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Capacity-aware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317BF-BFE9-4304-A6D6-97408A5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070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A8F84-0A23-496A-941E-E006F10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Student: ____________________    Register no.: ____________________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47CEC-263D-4D15-8F77-710BCE66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102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AI course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B0041D-5BAA-44B1-A88C-37C2432E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847738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89B533-A073-4A3A-BE53-66C1F89B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C7F5A-B8B0-41FC-BA75-48D7EA8F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PROBLEM FORMULATION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D7A93-21EB-4529-8313-D495A6A0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campus becomes a weighted state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33341-F434-48B6-9A36-907605D8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14C34-72C4-433F-897A-AC49BCC4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3D605-73CC-43A3-8C49-DECBC3CC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CC306-EFBF-4A97-8381-87B94E7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90775"/>
            <a:ext cx="224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35B5D-FECA-49E1-A4FE-AB209F0F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220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0D260-06FB-470D-A655-D305D80F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605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22DAE-B6FC-462C-B0E6-E94DD64D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A475A-4D82-496E-A7A1-AA5B2A3B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533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7AEDA-039A-46CF-9EB8-DC5E8199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F1A96-2455-40DD-A313-F025DC02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3C106-3141-4AF7-B87F-31BB8C8D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29FDE-CB02-439D-9561-0E38944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5EE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DE6DB-435B-40CA-BDF6-60C82B82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Junction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7022C-8916-4CC7-9419-8F23381A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FB71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365A6-6870-4E10-8772-7DF7AB4E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Science Lab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E3DE1-EBB0-4849-A4CC-3AD82E7F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35D8D-9257-4846-A204-2DD29C41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North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AC391-FD38-4EFB-AFF4-F6802DF2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04B7E-BD3C-4FAD-9C90-EACF3DDB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South 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28441-CBB5-4A03-BE39-4BDAB65A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2000250" cy="3714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8633A-55AF-4FF6-82A6-DB325AA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3C277-077E-4355-8C2F-A1FB7C4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Current node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F4F5C-99B2-4840-BEB2-B0EAC5FB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90F5B-92A7-44E6-9420-523B8DE6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43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Move to an adjacent node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34914D-EC4A-472A-9882-D351A101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4CAC5-8672-450C-A266-55AF6E68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529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Distance + risk + congestion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139707-7F04-4EBA-BB8F-1F0BDDC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14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78E2E6-97C0-469E-BA5F-07674EC8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81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Reach a safe exit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D61C88-D30E-4A1A-BEC3-6F7188F6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Graph nodes represent locations. Edges store distance and evidence-driven risk.</a:t>
            </a:r>
          </a:p>
        </p:txBody>
      </p:sp>
    </p:spTree>
    <p:extLst>
      <p:ext uri="{BB962C8B-B14F-4D97-AF65-F5344CB8AC3E}">
        <p14:creationId xmlns:p14="http://schemas.microsoft.com/office/powerpoint/2010/main" val="1567567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9AA0A-5AEF-4602-AE56-F9D688E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03352-AC50-456E-96CE-1675D8ED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4C66C-766A-499E-8B7D-28F23F4D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Four search strategies reveal different tradeoffs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6B999-3421-45C1-BCE8-55EB6B32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EA9ED-CD0C-435E-939A-8A2B9004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EE6C0-5F80-4939-BA28-310C801C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54109-F5DD-443B-9545-6A29C7FF0622}"/>
              </a:ext>
            </a:extLst>
          </p:cNvPr>
          <p:cNvGraphicFramePr/>
          <p:nvPr/>
        </p:nvGraphicFramePr>
        <p:xfrm>
          <a:off xmlns:a="http://schemas.openxmlformats.org/drawingml/2006/main" x="552450" y="1733550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333500"/>
                <a:gridCol w="1143000"/>
                <a:gridCol w="1143000"/>
                <a:gridCol w="2286000"/>
              </a:tblGrid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Guidance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Optimal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Observed role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BFS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Unit cost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DFS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Contrast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Greedy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h(n)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No*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Fast estimate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A*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g(n)+h(n)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Recommended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8AE26-AE5D-41B4-9A99-FCA69141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5060B-F17E-4DEA-A47E-B2EA2D2B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A*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76965-FD43-4B1D-BD09-6A264BD4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146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2E635-0CE4-4111-A202-2510D954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97D16-500D-427A-8728-569C44FE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cost already paid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B1396-30F7-476E-9AFF-35699A7F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7537F-8B26-4A05-889B-614F243D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estimated remaining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63BE9-DED3-4758-B790-ADCE4A47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A* balances measured danger with progress toward safety.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ED479-E335-401E-B242-2E216A07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3314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93A9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18AF2-0BDD-4157-AE81-6BA43B88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* depends on graph and heuristic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551EC-9B7A-4ED3-8130-701506F0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3C385-CC4B-43ED-AD89-74F39B9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DD596-C3B9-4981-8EEF-C98A4C79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ALGORITHMS IMPLEMENTED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B938D-11DB-4E8A-9F85-CFC85862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ABD31-0507-40A4-AFAE-390ED457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101B9-FAA3-4BED-BB70-3F06C648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SCENARIOS EVALUATED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1B2D28-DD3A-49A2-89D1-5A53EEC4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176F4-6A03-4D56-ADFC-D747B071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EFA7A-409D-4460-A95A-E8DAFBD4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SEARCH RUNS</a:t>
            </a:r>
          </a:p>
        </p:txBody>
      </p:sp>
    </p:spTree>
    <p:extLst>
      <p:ext uri="{BB962C8B-B14F-4D97-AF65-F5344CB8AC3E}">
        <p14:creationId xmlns:p14="http://schemas.microsoft.com/office/powerpoint/2010/main" val="835825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E88ED-5D05-4042-9325-6D263BB8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10C8B-AA7C-4ECC-B522-97C5061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UNCERTAIN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70640-F102-42A1-A8F7-719AF2B0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Sensor evidence becomes a transparent risk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1E1B6-EC7A-403F-A86D-6AACEDD2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12D1D-7B35-4029-87F9-F3DCDB07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040C5-4D9F-431B-B539-5EF360B0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28C07-A01F-4505-89E1-5E7F245D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2514600" cy="3714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3AE6C-2E92-4B6A-93F7-8F3748B1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14890-CE28-4562-8F77-1A3683BA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053EC-3CBA-4521-B6EF-A3CF94A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Smoke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E05C6-B72A-4728-B5A6-65B5324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B5EA9-41E9-4221-9C1C-56308F3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7BF52-219A-4C4F-927C-7D29A3EF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Heat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C1F0D-7842-4F2F-8355-F4E0B75C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575EB-6066-4D29-8287-F2B940FE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7DE70-35F6-4921-BDED-81BB731B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Alarm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DA1A8-E9F8-449E-BA7C-3C1EF0ED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F0CD5-B74C-4BEF-BDE4-8BFDC562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990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solidFill>
              <a:srgbClr val="5EEA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EB778-5652-4C81-8881-E613A59C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086100" cy="3714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D6EBB-7549-4D2A-9E1A-A3EFED36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193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BAYES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26789-8F72-4E57-A5A7-138866B0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098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P(Fire | E)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27858-28ED-42A4-AECC-52B6C2FF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62300"/>
            <a:ext cx="2552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= P(E | Fire) P(Fire)</a:t>
            </a:r>
          </a:p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——————————————</a:t>
            </a:r>
          </a:p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P(E)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05992-DA85-4795-B09E-C2D085EF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291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ED0CF-B5B1-4B97-BD17-2B4F2B5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672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Posterior is recalculated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662D6-D447-403D-97CA-55D11182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990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F03CB-AB11-416F-B750-4BFC2F88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2E3EE-0DF6-458A-BC9B-D4B7670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ROUTE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511AB-1667-4A50-AB7E-7BB22934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edge 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92E9C-5D2A-43C9-B131-E858A7F9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distance</a:t>
            </a:r>
          </a:p>
          <a:p xmlns:a="http://schemas.openxmlformats.org/drawingml/2006/main">
            <a: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+ λ ×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B0C6C3-D08D-4186-9132-07A3C1FB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The risk weight λ lets the operator choose how strongly danger influences the route.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7F430C-3F46-48C5-9334-81EBAC5A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Explainability: every risky edge shows its probability, evidence and contribution to total cost.</a:t>
            </a:r>
          </a:p>
        </p:txBody>
      </p:sp>
    </p:spTree>
    <p:extLst>
      <p:ext uri="{BB962C8B-B14F-4D97-AF65-F5344CB8AC3E}">
        <p14:creationId xmlns:p14="http://schemas.microsoft.com/office/powerpoint/2010/main" val="81282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F607C6-7FFC-444E-9674-48B532C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6C02F-B450-4CA3-8BF3-4A299EC7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DYNAMIC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279A0-9C73-46A7-939F-E5D402AD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When an edge becomes unsafe, the plan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684CD-052B-4516-BAC2-94D2199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74B88-229C-4C04-94E3-B8AC73D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37049-3FD6-436B-80E4-4282B41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15113-8989-487C-9B8D-31882D90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73914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3D785-9F16-463E-9270-9AA1E856D9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36cda5c7a4f17"/>
          <a:stretch xmlns:a="http://schemas.openxmlformats.org/drawingml/2006/main"/>
        </p:blipFill>
        <p:spPr>
          <a:xfrm xmlns:a="http://schemas.openxmlformats.org/drawingml/2006/main">
            <a:off x="2814458" y="1714500"/>
            <a:ext cx="2714983" cy="4248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AA7D5-5D71-43AD-AC6E-C3E79EFE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67100" cy="42481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801B1-59BC-4507-B4DF-9EC47573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REPLAN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94C20-6F5B-4448-B29C-7AEF57EB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C156F-DDEF-4A29-B105-ED744AF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AEBAE-E234-41EF-AEDA-E6E774F9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FC211-5538-4E4F-A046-D5734B56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Read the latest sensor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4B88-7A0C-4C6B-A1AC-5160B60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18EC3-C889-4B86-81B1-04E523CA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6FD37-7FC9-4AE7-9838-42CF9CDB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BB8D5-0E64-4400-8C0C-A131D095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Recalculate affected edge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51A2B-F580-4A1F-AF11-565843A4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624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E5D79-AC2D-4DAC-BE82-7C82EC95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0F843-3917-4387-9C7C-07254473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62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6BDAB-59DA-41B1-9D58-224240FA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Run A* from the current 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18913-C4B2-4F56-B8F3-9A42469D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434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80ABB-462B-45C2-9D57-A8B33F5E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F706E-D48C-4E1B-9679-F244AADD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2FC6A-77F1-4C20-BD39-E4D72CD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91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Show why the route changed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772291-2A0C-4A41-B5B8-71EB8485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67350"/>
            <a:ext cx="2552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BE2ED-A160-473B-A199-7ADB963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054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SENSE  →  PLAN  →  ACT</a:t>
            </a:r>
          </a:p>
        </p:txBody>
      </p:sp>
    </p:spTree>
    <p:extLst>
      <p:ext uri="{BB962C8B-B14F-4D97-AF65-F5344CB8AC3E}">
        <p14:creationId xmlns:p14="http://schemas.microsoft.com/office/powerpoint/2010/main" val="2049005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A5450-6796-4798-A3E5-9F689C12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86182-E0E7-4D43-9D31-0C8B2BA6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MULTI-AGENT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B5443-8B6B-4BA8-97E2-F00FFA4C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Joint assignment reduces bottlenecks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5EFA1-2D52-47F0-BDC5-BF962C33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F8847-0A97-489D-87FC-5854E154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8BA0D-288F-4EAB-A248-6649057F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76034-F511-4D2B-8DA9-3B87EB45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708660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FCBD5-FE9B-4098-A056-9B869FD277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7083debe44ebd"/>
          <a:stretch xmlns:a="http://schemas.openxmlformats.org/drawingml/2006/main"/>
        </p:blipFill>
        <p:spPr>
          <a:xfrm xmlns:a="http://schemas.openxmlformats.org/drawingml/2006/main">
            <a:off x="2710758" y="1714500"/>
            <a:ext cx="2617585" cy="40957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B549D-0E99-45E0-BB89-520189D23B3C}"/>
              </a:ext>
            </a:extLst>
          </p:cNvPr>
          <p:cNvGraphicFramePr/>
          <p:nvPr/>
        </p:nvGraphicFramePr>
        <p:xfrm>
          <a:off xmlns:a="http://schemas.openxmlformats.org/drawingml/2006/main" x="7810500" y="1714500"/>
          <a:ext xmlns:a="http://schemas.openxmlformats.org/drawingml/2006/main" cx="377190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52550"/>
                <a:gridCol w="1581150"/>
                <a:gridCol w="838200"/>
              </a:tblGrid>
              <a:tr h="52387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Assigned exit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Cost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North Gate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Cafeteria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North Gate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5.2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Science Lab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South Exit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7CE6A-37E8-48F5-89E7-138D521A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790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F8E6E-C629-4270-8253-1A0FBAD0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291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13.6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140E1-452E-4A1C-ADF6-41548AFD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JOINT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EB1B9-0F9C-4FBE-B54B-802B0E6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95750"/>
            <a:ext cx="1790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DA582-32DD-4606-A85A-7C4E2B04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291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F2DE3-90DD-47CB-9DC7-85F608B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910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SHARED CORRIDORS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A9D42-6D60-4BD1-8546-09E64E79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The optimizer tests exit combinations, capacity limits and corridor overlap before choosing a joint plan.</a:t>
            </a:r>
          </a:p>
        </p:txBody>
      </p:sp>
    </p:spTree>
    <p:extLst>
      <p:ext uri="{BB962C8B-B14F-4D97-AF65-F5344CB8AC3E}">
        <p14:creationId xmlns:p14="http://schemas.microsoft.com/office/powerpoint/2010/main" val="1402387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A091A-9D15-486A-8050-A87715DE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63CE0-7A31-4907-BA48-4EF7B026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LOCAL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ADA88-35B0-4D4A-AC1D-33D621FA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genetic algorithm places scarce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05A3C-298A-4FA6-9271-9C24D5E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C8359-582C-4036-A5B9-2140B067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2D5FA-4DF2-4329-83DC-1C05D340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A27C3-6163-4566-AC7E-3AB7ED36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63436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5912C-7F6D-48BC-9429-9260CC065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bef27ee474e60"/>
          <a:stretch xmlns:a="http://schemas.openxmlformats.org/drawingml/2006/main"/>
        </p:blipFill>
        <p:spPr>
          <a:xfrm xmlns:a="http://schemas.openxmlformats.org/drawingml/2006/main">
            <a:off x="2339283" y="1714500"/>
            <a:ext cx="2617585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D8F39-452B-4499-A326-EC73F8CA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45148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D793E-F26E-4E22-B5B7-472B4CC1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FITNESS IMPROVEMENT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F806D513-DE8E-44E1-A674-BFAE4C596D70}"/>
              </a:ext>
            </a:extLst>
          </p:cNvPr>
          <p:cNvGraphicFramePr/>
          <p:nvPr/>
        </p:nvGraphicFramePr>
        <p:xfrm>
          <a:off xmlns:a="http://schemas.openxmlformats.org/drawingml/2006/main" x="7372350" y="2400300"/>
          <a:ext xmlns:a="http://schemas.openxmlformats.org/drawingml/2006/main" cx="39052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3dd36240e4d0f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371D2-5254-471E-A502-0B3592DA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006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F8AF4-76EE-4CAD-84A3-C2BEFCE9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387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Computer 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4157F-C085-4E65-A2AC-3113D542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006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96897-E8CC-46B1-B432-20FD18E7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Sports Hall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1325E-4265-4897-9EFE-01A0612A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57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Selected resource locations</a:t>
            </a:r>
          </a:p>
        </p:txBody>
      </p:sp>
    </p:spTree>
    <p:extLst>
      <p:ext uri="{BB962C8B-B14F-4D97-AF65-F5344CB8AC3E}">
        <p14:creationId xmlns:p14="http://schemas.microsoft.com/office/powerpoint/2010/main" val="936627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E7D5AC-5138-4FB6-B609-7EC90154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06E58-0F76-4401-8B19-9F0A6F0D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1B764-8F68-438C-8037-17862FCA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system separates evidence, algorithms and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0BF92-4846-49C8-90B5-F8CF0F4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B6384-E7AF-4353-A741-FD772363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5A112-34B3-48DA-A241-15999D12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C9B7A-8DC6-45E0-B78B-E1A3BA55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239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BB901-44A6-4D4F-BB29-C7DE610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Streamlit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81FBF-F263-44EF-BB1E-891256F7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954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Scenario controls, map editor, visual explanations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D0F39-2F84-4AE3-A203-B02A596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6172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590C6-1B41-49CA-B206-BE92D463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Planning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6B304-DC21-43B1-AEE7-9F450A8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6702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Search comparison, replanning, multi-agent coordination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5CAD3-E79F-414E-8C0C-67D572A6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76650"/>
            <a:ext cx="5105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3C5B9-2C22-4242-A762-D6DC08D4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9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Reasoning engines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60E55-4333-4511-8408-3D689E4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Bayesian risk and genetic 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3A2B8-3790-49A3-8520-7FE4C53B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4038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A6CCD-8104-4303-AF79-BED9205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910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Domain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88444-CC4D-421E-9083-24A5E22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01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Nodes, edges, hazards, exits, agents and resources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0711D-F096-4DA1-BFB1-E8888588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3200400" cy="3657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4DF47-0BDA-4C19-B218-B94B2B4E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DESIGN PRINCIPLES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67645-D166-49AC-87CE-239508E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43E04-EAF9-4343-9CAD-11975F77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Deterministic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BC3B2-89E3-4AFB-A312-869CB599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Seeds make experiments repeatable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7AD97-A91F-4F92-92F9-F12EA118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97720-A9AB-4A79-B679-CCD9BF82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Inspectable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5850E-DFD7-42A5-A16F-2BFD6534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Manual algorithms expose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37C41-0470-49FC-BC41-42D85874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57E28D-9996-49A1-ADEE-AFAE8305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Editable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B9AF7-84DA-4895-B551-90032CA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Custom maps can be entered as tables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070D3A-99EF-40BF-9E12-613AB2E8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77D79-3235-4539-B3C0-4216360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Tested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82DE1F-945F-4A1C-BC2F-6DDEF72C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Nine automated checks protect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4EE327-23FD-4779-AC19-2C98DC0F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320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AD08DA-2FDF-4D2E-A5DD-1E063E16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5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9792FD-CFE0-4FC9-9BBE-F6E4DC0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11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193613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01F76-32C5-4028-92FE-8EF39AAC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965CC-4C91-4781-9E21-1ADF28F0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03CEC-2238-42E1-9DD7-1993D405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Experiments make the tradeoffs measurable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36AB6-1EA7-48A7-A678-AE5EE00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70E63-E064-4D87-B5BC-56A0BAF9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4578D-485A-4BA2-9461-BE04837F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F321E-E7A3-4651-A190-5BC9219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8580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8C712-672F-4D71-98C0-5CD9518C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LIBRARY FIRE SCENARIO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F1FBCBA8-DF50-4B53-AE86-0D054F9B0DCA}"/>
              </a:ext>
            </a:extLst>
          </p:cNvPr>
          <p:cNvGraphicFramePr/>
          <p:nvPr/>
        </p:nvGraphicFramePr>
        <p:xfrm>
          <a:off xmlns:a="http://schemas.openxmlformats.org/drawingml/2006/main" x="819150" y="2400300"/>
          <a:ext xmlns:a="http://schemas.openxmlformats.org/drawingml/2006/main" cx="632460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78b5267c334c3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52B17-3DD5-4F06-AE0D-B02D3A95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3848100" cy="39433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9234F-5F6F-4266-AC3B-EB776AC9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1C911-A6D9-4DD0-8414-E0B9B28C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C6483-4F38-4E33-A6FB-8C73BD9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766CC-233C-4DE6-A048-44CF367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050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lowest risk-aware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73157-FFA7-4E4E-B941-604C1D4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2B2E9-D139-4816-9371-F9AB314F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9A0C-245D-46A9-8D2B-0E2F3B34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few expansions, weak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C287D-CF87-4A02-B3F7-39B38125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A79B7-5399-48CF-9238-F8E87243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Multi-agent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EE258-E46A-48AB-BDFA-5F5A7FFF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766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zero shared corridors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7C892-78C1-4029-9BE0-0E7DFEF2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5DF57-0B18-4F31-BB34-634A9698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Genetic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030AB-FF73-4440-B96D-672F97E4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624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fitness improved 5.8%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3415F-C714-4447-AC8F-77FD54D4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20 search runs  •  5 scenarios  •  fixed seeds  •  CSV evidence</a:t>
            </a:r>
          </a:p>
        </p:txBody>
      </p:sp>
    </p:spTree>
    <p:extLst>
      <p:ext uri="{BB962C8B-B14F-4D97-AF65-F5344CB8AC3E}">
        <p14:creationId xmlns:p14="http://schemas.microsoft.com/office/powerpoint/2010/main" val="1756116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5D2CB-07BB-4FEB-887F-CEA07CE1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51A60-1727-4732-A228-63F0D873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08611-785A-4770-9EC5-6DCB91D5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complete, explainable AI course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FAB44-A867-46BD-A975-6FE4C131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D9EAE-BE9E-4EC6-A7F2-D12011E9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2B49F-D852-4EA6-85F0-A8D9E329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D9BF9-EA5A-4F93-B787-9F97F029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42A30-98EC-4535-A10D-D56F4BCF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1C29D-6DAC-417C-8540-45DA6659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BFS, DFS, Greedy and A*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DD9B8-BDD4-475D-AEF5-A4A64DD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526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D2E7E-4361-4497-89D0-76F272C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24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069F8-9B8B-41EE-95FC-1D318995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47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Bayesian hazard probability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05471-2B2C-4479-B417-1308CEF5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C6902-4596-4A23-AE16-28536E76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4E476-964F-4D1F-A7A1-DAFCCB51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Dynamic and multi-agent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DD115-D656-46A4-8A14-E98BA5F0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EEFD5-3D8C-4869-9AA5-906D38A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C5EEA-FE3A-4950-B665-0A80DDE3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Genetic resource placement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602EF-0822-44A1-8AF9-2ECAD685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838450" cy="34861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E131A-9520-41D4-8CCC-DA5B43E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HONEST 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F118D-731A-4473-8F15-92589C0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05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Simulated sensor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Small graph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No crowd physics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Decision support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655B7-5EDE-4F57-9996-C04BBA9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1924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4D7D5-ED82-45A7-ABCD-815CF6F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244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READY FOR LIVE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8AA38-0169-4719-9148-4150F86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696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A4C0F-832A-4C0E-9E9D-11ABF73A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Core message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B546A-F9AD-43DD-BCE8-F41F0975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706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SafeRoute AI links course theory to a working system whose decisions can be demonstrated, measured and defended.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03C9B-5417-489C-BE3B-C5B2FF3B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83566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2026-10-13T15:32:01.5660000Z</dcterms:created>
  <dcterms:modified xsi:type="dcterms:W3CDTF">2026-10-13T15:32:01.5660000Z</dcterms:modified>
</coreProperties>
</file>