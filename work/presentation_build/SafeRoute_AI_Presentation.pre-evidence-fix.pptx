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b1fd6b65d4d04" /><Relationship Type="http://schemas.openxmlformats.org/officeDocument/2006/relationships/extended-properties" Target="/docProps/app.xml" Id="Rdca8bbf8b90a42f2" /><Relationship Type="http://schemas.openxmlformats.org/officeDocument/2006/relationships/officeDocument" Target="/ppt/presentation.xml" Id="R83eecc9fcb42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1f49c230f0403e"/>
  </p:sldMasterIdLst>
  <p:notesMasterIdLst>
    <p:notesMasterId xmlns:r="http://schemas.openxmlformats.org/officeDocument/2006/relationships" r:id="R5b3933f84ea5447c"/>
  </p:notesMasterIdLst>
  <p:sldIdLst>
    <p:sldId xmlns:r="http://schemas.openxmlformats.org/officeDocument/2006/relationships" id="256" r:id="Reb3bcddb9fb74ac5"/>
    <p:sldId xmlns:r="http://schemas.openxmlformats.org/officeDocument/2006/relationships" id="257" r:id="R807542e837864ef1"/>
    <p:sldId xmlns:r="http://schemas.openxmlformats.org/officeDocument/2006/relationships" id="258" r:id="Re904de710bdb401a"/>
    <p:sldId xmlns:r="http://schemas.openxmlformats.org/officeDocument/2006/relationships" id="259" r:id="R7c75ef2bb91e4998"/>
    <p:sldId xmlns:r="http://schemas.openxmlformats.org/officeDocument/2006/relationships" id="260" r:id="R3360100e1ff64717"/>
    <p:sldId xmlns:r="http://schemas.openxmlformats.org/officeDocument/2006/relationships" id="261" r:id="Rc5a0b295a0084728"/>
    <p:sldId xmlns:r="http://schemas.openxmlformats.org/officeDocument/2006/relationships" id="262" r:id="Rb48342e2eab74fa5"/>
    <p:sldId xmlns:r="http://schemas.openxmlformats.org/officeDocument/2006/relationships" id="263" r:id="R41b94a30ea91460a"/>
    <p:sldId xmlns:r="http://schemas.openxmlformats.org/officeDocument/2006/relationships" id="264" r:id="Rcf438e812f2444b9"/>
    <p:sldId xmlns:r="http://schemas.openxmlformats.org/officeDocument/2006/relationships" id="265" r:id="R47d6ce7893ce4c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b87ceaf6aa4f95" /><Relationship Type="http://schemas.openxmlformats.org/officeDocument/2006/relationships/slideMaster" Target="/ppt/slideMasters/slideMaster1.xml" Id="Re11f49c230f0403e" /><Relationship Type="http://schemas.openxmlformats.org/officeDocument/2006/relationships/notesMaster" Target="/ppt/notesMasters/notesMaster1.xml" Id="R5b3933f84ea5447c" /><Relationship Type="http://schemas.openxmlformats.org/officeDocument/2006/relationships/presProps" Target="/ppt/presProps.xml" Id="Rb59a7e46fcbb4a43" /><Relationship Type="http://schemas.openxmlformats.org/officeDocument/2006/relationships/tableStyles" Target="/ppt/tableStyles.xml" Id="R13e63d06d4a94d85" /><Relationship Type="http://schemas.openxmlformats.org/officeDocument/2006/relationships/slide" Target="/ppt/slides/slide1.xml" Id="Reb3bcddb9fb74ac5" /><Relationship Type="http://schemas.openxmlformats.org/officeDocument/2006/relationships/slide" Target="/ppt/slides/slide2.xml" Id="R807542e837864ef1" /><Relationship Type="http://schemas.openxmlformats.org/officeDocument/2006/relationships/slide" Target="/ppt/slides/slide3.xml" Id="Re904de710bdb401a" /><Relationship Type="http://schemas.openxmlformats.org/officeDocument/2006/relationships/slide" Target="/ppt/slides/slide4.xml" Id="R7c75ef2bb91e4998" /><Relationship Type="http://schemas.openxmlformats.org/officeDocument/2006/relationships/slide" Target="/ppt/slides/slide5.xml" Id="R3360100e1ff64717" /><Relationship Type="http://schemas.openxmlformats.org/officeDocument/2006/relationships/slide" Target="/ppt/slides/slide6.xml" Id="Rc5a0b295a0084728" /><Relationship Type="http://schemas.openxmlformats.org/officeDocument/2006/relationships/slide" Target="/ppt/slides/slide7.xml" Id="Rb48342e2eab74fa5" /><Relationship Type="http://schemas.openxmlformats.org/officeDocument/2006/relationships/slide" Target="/ppt/slides/slide8.xml" Id="R41b94a30ea91460a" /><Relationship Type="http://schemas.openxmlformats.org/officeDocument/2006/relationships/slide" Target="/ppt/slides/slide9.xml" Id="Rcf438e812f2444b9" /><Relationship Type="http://schemas.openxmlformats.org/officeDocument/2006/relationships/slide" Target="/ppt/slides/slide10.xml" Id="R47d6ce7893ce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3e082e4550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72c9a926df4578" /><Relationship Type="http://schemas.openxmlformats.org/officeDocument/2006/relationships/notesMaster" Target="/ppt/notesMasters/notesMaster1.xml" Id="R1421c2dba58842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f8fd70f3224cc3" /><Relationship Type="http://schemas.openxmlformats.org/officeDocument/2006/relationships/notesMaster" Target="/ppt/notesMasters/notesMaster1.xml" Id="Re0fc885d49a8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ae10ee36ae4b87" /><Relationship Type="http://schemas.openxmlformats.org/officeDocument/2006/relationships/notesMaster" Target="/ppt/notesMasters/notesMaster1.xml" Id="R070686d141c2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07886f75364379" /><Relationship Type="http://schemas.openxmlformats.org/officeDocument/2006/relationships/notesMaster" Target="/ppt/notesMasters/notesMaster1.xml" Id="R9b0510445d9d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0707119bc94bc9" /><Relationship Type="http://schemas.openxmlformats.org/officeDocument/2006/relationships/notesMaster" Target="/ppt/notesMasters/notesMaster1.xml" Id="Reee1c43de0ad45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fdd3003b69443e" /><Relationship Type="http://schemas.openxmlformats.org/officeDocument/2006/relationships/notesMaster" Target="/ppt/notesMasters/notesMaster1.xml" Id="Rd83711ef83ba48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610d1e4294c4c" /><Relationship Type="http://schemas.openxmlformats.org/officeDocument/2006/relationships/notesMaster" Target="/ppt/notesMasters/notesMaster1.xml" Id="Rf910c92fa83343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1b248c9d2e4cb5" /><Relationship Type="http://schemas.openxmlformats.org/officeDocument/2006/relationships/notesMaster" Target="/ppt/notesMasters/notesMaster1.xml" Id="Rf169bb4e308d42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1a7f07d0694a51" /><Relationship Type="http://schemas.openxmlformats.org/officeDocument/2006/relationships/notesMaster" Target="/ppt/notesMasters/notesMaster1.xml" Id="Rc210e64fae4e4b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364100ca604a95" /><Relationship Type="http://schemas.openxmlformats.org/officeDocument/2006/relationships/notesMaster" Target="/ppt/notesMasters/notesMaster1.xml" Id="R4c8344037505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SafeRoute AI as an explainable decision support system for emergency evacuation. State that every recommendation can be traced to search, probability, or optimization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state-space representation: a person occupies one graph node, actions traverse edges, and the goal test checks whether an exit is reached. The path cost combines distance, Bayesian risk, and optional congestion.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contrast uninformed and informed search. Emphasize that A star uses both accumulated cost and a heuristic. Mention that all four algorithms are implemented manually so the logic is visible for viva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Bayes rule equation to explain why the model does not treat a sensor as perfect. Multiple observations update the probability of danger, and that posterior probability becomes a path cost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Replanning tab. Select an edge, increase its hazard probability, and apply the event. The system replans from the current position and displays both the old and new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planning agents independently can overload the same route. This module evaluates joint exit assignments and penalizes shared corridors while respecting exit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chromosome as a set of selected locations. Fitness measures weighted response distance. Selection, crossover, mutation, and elitism produce better placements across generations.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the interface down to the domain model. Emphasize modularity: each algorithm is independent and tested, while the UI only coordinates inputs and visualizes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to show that the fewest expanded nodes does not necessarily mean the best route. In the fire scenario, A star accepts a longer physical route to obtain the lowest combined distance and risk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mapping the project to the syllabus and stating the limitations honestly. Then invite the evaluator to choose a scenario for a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c91c2c21445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07d95ea2640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d5576981643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0f68ab69045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d73ff022e45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21a206d98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DB1121-1BFD-42C0-8272-42BA64D1F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7BFE46-2FE6-4077-A056-797C6E11AE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0F0A45-D09B-4B22-9B70-83F7BEBFB7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5BAB08-1746-4447-BD56-4499BF6D4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E3590F-12FC-4522-84A8-7CCC25A4E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D48D6F-8FC3-4DCD-B09E-E73FD1CA2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252B44-5330-41EB-998E-B2277976FD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094754-D54C-4A22-9485-26D4758429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D8D5C7-3620-4BE5-BA39-938A21DF1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8039A1-B18B-47FB-B5C3-B9E99CC9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5df4380064eb6" /><Relationship Type="http://schemas.openxmlformats.org/officeDocument/2006/relationships/slideLayout" Target="/ppt/slideLayouts/slideLayout1.xml" Id="Rc6a787302ea0487a" /><Relationship Type="http://schemas.openxmlformats.org/officeDocument/2006/relationships/slideLayout" Target="/ppt/slideLayouts/slideLayout2.xml" Id="Rf833caf1ebb24a70" /><Relationship Type="http://schemas.openxmlformats.org/officeDocument/2006/relationships/slideLayout" Target="/ppt/slideLayouts/slideLayout3.xml" Id="R7d34342d0f7d4938" /><Relationship Type="http://schemas.openxmlformats.org/officeDocument/2006/relationships/slideLayout" Target="/ppt/slideLayouts/slideLayout4.xml" Id="Rf0fd8d9c1d2a46b3" /><Relationship Type="http://schemas.openxmlformats.org/officeDocument/2006/relationships/slideLayout" Target="/ppt/slideLayouts/slideLayout5.xml" Id="Rdb64223d0dde49fe" /><Relationship Type="http://schemas.openxmlformats.org/officeDocument/2006/relationships/slideLayout" Target="/ppt/slideLayouts/slideLayout6.xml" Id="R22961fdc9ad4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787302ea0487a"/>
    <p:sldLayoutId xmlns:r="http://schemas.openxmlformats.org/officeDocument/2006/relationships" id="2147483650" r:id="Rf833caf1ebb24a70"/>
    <p:sldLayoutId xmlns:r="http://schemas.openxmlformats.org/officeDocument/2006/relationships" id="2147483651" r:id="R7d34342d0f7d4938"/>
    <p:sldLayoutId xmlns:r="http://schemas.openxmlformats.org/officeDocument/2006/relationships" id="2147483652" r:id="Rf0fd8d9c1d2a46b3"/>
    <p:sldLayoutId xmlns:r="http://schemas.openxmlformats.org/officeDocument/2006/relationships" id="2147483653" r:id="Rdb64223d0dde49fe"/>
    <p:sldLayoutId xmlns:r="http://schemas.openxmlformats.org/officeDocument/2006/relationships" id="2147483654" r:id="R22961fdc9ad4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f2900d0534445" /><Relationship Type="http://schemas.openxmlformats.org/officeDocument/2006/relationships/notesSlide" Target="/ppt/notesSlides/notesSlide1.xml" Id="Raac9ba844bd9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c0b55e23b419a" /><Relationship Type="http://schemas.openxmlformats.org/officeDocument/2006/relationships/notesSlide" Target="/ppt/notesSlides/notesSlide2.xml" Id="R4c63f580cdad4d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8bbf964f849a5" /><Relationship Type="http://schemas.openxmlformats.org/officeDocument/2006/relationships/notesSlide" Target="/ppt/notesSlides/notesSlide3.xml" Id="Rff5a5d18a6cb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9fb6f54ab4d45" /><Relationship Type="http://schemas.openxmlformats.org/officeDocument/2006/relationships/notesSlide" Target="/ppt/notesSlides/notesSlide4.xml" Id="R2e90fc12640148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e2bfccb37e482d" /><Relationship Type="http://schemas.openxmlformats.org/officeDocument/2006/relationships/image" Target="/ppt/media/image.jpeg" Id="Rcf7c0ff56871462b" /><Relationship Type="http://schemas.openxmlformats.org/officeDocument/2006/relationships/notesSlide" Target="/ppt/notesSlides/notesSlide5.xml" Id="Rdef9a3f9ecf649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736bcd12e4d40" /><Relationship Type="http://schemas.openxmlformats.org/officeDocument/2006/relationships/image" Target="/ppt/media/image2.jpeg" Id="R648358ae97ab499a" /><Relationship Type="http://schemas.openxmlformats.org/officeDocument/2006/relationships/notesSlide" Target="/ppt/notesSlides/notesSlide6.xml" Id="R341e1574eb3f43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a29400c154bcb" /><Relationship Type="http://schemas.openxmlformats.org/officeDocument/2006/relationships/image" Target="/ppt/media/image3.jpeg" Id="R44a7c841a16345a2" /><Relationship Type="http://schemas.openxmlformats.org/officeDocument/2006/relationships/chart" Target="/ppt/slides/charts/chart1.xml" Id="R59d5b15ad1514702" /><Relationship Type="http://schemas.openxmlformats.org/officeDocument/2006/relationships/notesSlide" Target="/ppt/notesSlides/notesSlide7.xml" Id="R84644b8ba890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d986022b44e44" /><Relationship Type="http://schemas.openxmlformats.org/officeDocument/2006/relationships/notesSlide" Target="/ppt/notesSlides/notesSlide8.xml" Id="R1b902f2f123542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8714cd838400c" /><Relationship Type="http://schemas.openxmlformats.org/officeDocument/2006/relationships/chart" Target="/ppt/slides/charts/chart2.xml" Id="R88e86511396745a0" /><Relationship Type="http://schemas.openxmlformats.org/officeDocument/2006/relationships/notesSlide" Target="/ppt/notesSlides/notesSlide9.xml" Id="R4a66ec46cda748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52a5b11c64cc6" /><Relationship Type="http://schemas.openxmlformats.org/officeDocument/2006/relationships/notesSlide" Target="/ppt/notesSlides/notesSlide10.xml" Id="R1475db9f3cfc497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Fitness</c:v>
          </c:tx>
          <c:spPr>
            <a:solidFill xmlns:a="http://schemas.openxmlformats.org/drawingml/2006/main">
              <a:srgbClr val="FBBF24"/>
            </a:solidFill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4.756</c:v>
                </c:pt>
                <c:pt idx="1">
                  <c:v>4.62</c:v>
                </c:pt>
                <c:pt idx="2">
                  <c:v>4.55</c:v>
                </c:pt>
                <c:pt idx="3">
                  <c:v>4.51</c:v>
                </c:pt>
                <c:pt idx="4">
                  <c:v>4.49</c:v>
                </c:pt>
                <c:pt idx="5">
                  <c:v>4.48</c:v>
                </c:pt>
                <c:pt idx="6">
                  <c:v>4.478</c:v>
                </c:pt>
                <c:pt idx="7">
                  <c:v>4.478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Risk-aware cost</c:v>
          </c:tx>
          <c:spPr>
            <a:solidFill xmlns:a="http://schemas.openxmlformats.org/drawingml/2006/main">
              <a:srgbClr val="38BDF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BFS</c:v>
                </c:pt>
                <c:pt idx="1">
                  <c:v>DFS</c:v>
                </c:pt>
                <c:pt idx="2">
                  <c:v>Greedy</c:v>
                </c:pt>
                <c:pt idx="3">
                  <c:v>A*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33.875</c:v>
                </c:pt>
                <c:pt idx="1">
                  <c:v>37</c:v>
                </c:pt>
                <c:pt idx="2">
                  <c:v>33.875</c:v>
                </c:pt>
                <c:pt idx="3">
                  <c:v>32.1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D3D60-90CD-4237-8900-9F450115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8D789-6296-4319-94E9-2CA9D1B8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ACADEMIC AI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60279-6D83-455A-9945-EED680F0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E4B29-206D-47B7-9190-CDBFD3B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90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Explainable evacuation planning under uncertainty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02027-9CCE-40A6-9588-7E2B763C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algorithms  •  Bayesian risk  •  Dynamic planning</a:t>
            </a:r>
          </a:p>
          <a:p xmlns:a="http://schemas.openxmlformats.org/drawingml/2006/main">
            <a:pPr algn="l">
              <a:defRPr sz="15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Multi-agent coordination  •  Genetic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24471-4D5A-47CD-83D8-9A340C33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19150"/>
            <a:ext cx="3429000" cy="45148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A14E9-8D61-4951-9A17-D1F4C471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23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FROM SENSOR TO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07664-1CD4-4E7C-800E-C4A79A83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68C25-20B3-4BBA-9A67-5518DA14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3CCEB-DB98-4CE1-A141-4F39EC2B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6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PERCEIVE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169F1-5992-4F4B-8671-7A04A96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Smoke and fire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95EB3-C503-4EDC-A9DC-AC4D5148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4792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5D2F3-9D79-4F1D-8915-843110AB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9FFB5-7C7F-4420-BDEE-E76F7125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BF9F0-474F-424C-9F64-0E09635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717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Bayesian edge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D8696-03E2-4E82-8444-4414FF8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D6ED2-0999-40F2-914C-FD323A11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49041-A643-4964-8B3D-78855DBC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0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91AF1-E413-4025-9E0C-C3AB9BF5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and live replanning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8E923-9C48-4197-AB2D-348CBABF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81475"/>
            <a:ext cx="2895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380ED-6174-4EC9-9ADB-5FF5E69C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338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556A9-A33B-45DA-82EC-EEB3B93C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67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C1135-7FD7-4EE1-98E4-544BAF3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Capacity-aware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B7168-90C5-4BBB-8DE8-9D387E69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070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953E5-C912-468E-A9A8-70F2597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Student: ____________________    Register no.: ____________________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B6FFAC-C1FA-483C-B853-380221BC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10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AI course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CBD82A-8130-4ACC-BB45-3886A47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232242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6D57E-15EF-4486-97CD-1DFCB763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B006C-55ED-4E86-B86F-4B5AE317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PROBLEM FORMULATION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6C866-2C01-49D4-B7F0-37BB5FF7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campus becomes a weighted state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937A5-299D-4B27-8453-9430CFD6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59816-1216-4542-B4D9-3B205B69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1C490-07D7-4602-919D-51839AB8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DECAB-DC51-4C59-B394-32442D13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90775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1F17A-58F8-4E52-8438-011EC0BE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20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EE852-3318-4218-8935-A5C5B20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6D855-7C60-425A-AE63-B4A16F08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E9A8E-6C5B-486C-A80B-AFE95782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533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0CE35-B8E4-4098-88B8-1B307581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61D60-2F3F-4CA4-A23C-FB29647E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4286C-2DD1-47E8-A5C1-03EFE3C7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77812-C6EA-4856-B087-D6D3911A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54EB0-1168-4CC9-82E3-76BD19F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7C112-8CD0-40B5-B774-E6E18D6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193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FB71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15766-CB77-4500-94D3-6E96C44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28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Science 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2ED56-E3DB-483A-8770-D646911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942B6-32A2-4D33-AD71-B906BE2C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North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87EB7-AE5E-4CE9-9AAD-3995AEB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6573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E49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B265B-0D12-4E34-8A3D-2EF1957E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South 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0524D-5721-4522-8FF1-52593614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2000250" cy="3714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F66BD-B0EB-49C4-BDBD-359A3462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6239A-A8A9-4F8D-B762-AC359297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Current node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C27E2-3584-4EDF-BC17-EE1AFFC4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2CABE-7EFD-4309-983F-DD359F74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Move to an adjacent node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56FBD9-8781-40AA-8CDF-03DDDE2B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86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5503E-0EC3-44B8-909D-7905ABF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529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Distance + risk + congestion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B7BF8-35D8-4FCE-AAF4-FECE3D98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E84EF-BA7A-4FBF-9AD9-D4396969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81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Reach a safe exit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96365-740D-4B22-B2AC-6621B13C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Graph nodes represent locations. Edges store distance and evidence-driven risk.</a:t>
            </a:r>
          </a:p>
        </p:txBody>
      </p:sp>
    </p:spTree>
    <p:extLst>
      <p:ext uri="{BB962C8B-B14F-4D97-AF65-F5344CB8AC3E}">
        <p14:creationId xmlns:p14="http://schemas.microsoft.com/office/powerpoint/2010/main" val="1541034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FE166-6435-4824-B0B5-C91EBB8B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4F1A5-6B4B-4083-9B7C-EFFB34F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D68F8-A612-4768-A053-94161434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Four search strategies reveal different tradeoffs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B6F26-5C05-4CA2-A3B0-20B28CF6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59AC2-16ED-4E9B-BE14-615434F5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581E7-3B25-4107-AE59-E2D12A7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EC042-E5D7-4107-AD94-79161DB6F750}"/>
              </a:ext>
            </a:extLst>
          </p:cNvPr>
          <p:cNvGraphicFramePr/>
          <p:nvPr/>
        </p:nvGraphicFramePr>
        <p:xfrm>
          <a:off xmlns:a="http://schemas.openxmlformats.org/drawingml/2006/main" x="552450" y="1733550"/>
          <a:ext xmlns:a="http://schemas.openxmlformats.org/drawingml/2006/main" cx="73342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333500"/>
                <a:gridCol w="1143000"/>
                <a:gridCol w="1143000"/>
                <a:gridCol w="2286000"/>
              </a:tblGrid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Guidance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Optimal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Observed role</a:t>
                      </a:r>
                    </a:p>
                  </a:txBody>
                  <a:tcPr marL="91440" marR="91440" marT="45720" marB="45720">
                    <a:solidFill>
                      <a:srgbClr val="5EEAD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BFS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Unit cost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DFS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Depth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Contrast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Greedy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h(n)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No*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Fast estimate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A*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g(n)+h(n)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Yes*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Recommended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21793-CE78-48CA-A078-D8507AD4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FE7B4-C12E-43DA-AB92-A66367D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A*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9F021-5311-4670-A76C-ADB28923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146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613C3-4C53-4AFD-9CA4-CC84C5CF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0281B-4F43-44C7-B6FD-D839CDD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cost already paid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4C658-4441-4C5B-9EDD-ABD4EE0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B2A0F-2382-44AF-8E26-2CAE2DAC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62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estimated remaining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E8D36-2346-453D-BC2D-AF20EF2F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A* balances measured danger with progress toward safety.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75442-0FD9-4BDF-9BE5-14692CD1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314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93A9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47C89-2015-40D5-A40D-230AB3C4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* depends on graph and heuristic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3F248-4323-4321-8274-5D5C2D94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45C02-A2A9-4EFF-B5DE-20D12EAF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E7C63-5042-4E87-9AA1-4BC86F17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ALGORITHMS IMPLEMENTED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6893D-F5FC-46F3-941A-C0ED0F8B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99615-699B-4CA4-B863-40C35AC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FFABA-3945-43E6-B9AD-75D0DB81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SCENARIOS EVALUATED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6889B-6EA1-4951-9F76-DF36DEA6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041A4-FF25-445B-8FD7-070A8B5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53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074B7-5459-4EFF-9CD3-B8C1CCE4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7150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SEARCH RUNS</a:t>
            </a:r>
          </a:p>
        </p:txBody>
      </p:sp>
    </p:spTree>
    <p:extLst>
      <p:ext uri="{BB962C8B-B14F-4D97-AF65-F5344CB8AC3E}">
        <p14:creationId xmlns:p14="http://schemas.microsoft.com/office/powerpoint/2010/main" val="1273105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653CD-669F-4617-84A4-E126C94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DBC98-5AA1-4387-8835-C37BC1E0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UNCERTAIN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20FF7-FCB7-4F48-8ACC-EFF2583A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Sensor evidence becomes a transparent risk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DA864-B97A-4C25-B060-12176A7C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F24F8-6DED-4B28-8747-03FB5C77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C8BB2-458D-40CB-BB98-7B2F8CF9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72ED0-D0DB-46CE-817C-E775F903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2514600" cy="3714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E58BF-526D-4F88-8180-3BEAE32B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3290F-D848-41A1-B6B0-947C005D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F4D79-A9D3-43D6-B7C8-8DD9A4A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A49CE-A6A7-400A-B8F4-2BD6E24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65963-08AD-4425-8FFF-8FD7F86D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48A36-5808-4DBA-9213-9668E03F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8F42B-3698-470C-911A-D1477A5B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C1FCD-07DE-4B33-8E6F-9AE3F36D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981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A2F46-73D8-47CD-BE44-2283F2DF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E0DD2-1A60-4C47-9EC8-24E8C0C5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0.90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D6072-F10E-46C7-A279-CCB0511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solidFill>
              <a:srgbClr val="5EEA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C360C-F254-46C9-B1E0-6C22293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086100" cy="3714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E5759-BD4A-41C5-97CE-27572228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193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BAYES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AE82F-1206-434E-8158-61F7A7AE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P(Fire | 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AAFCC-20F6-4011-976A-E586518E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62300"/>
            <a:ext cx="2552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= P(E | Fire) P(Fire)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——————————————</a:t>
            </a:r>
          </a:p>
          <a:p xmlns:a="http://schemas.openxmlformats.org/drawingml/2006/main">
            <a:pPr algn="ctr">
              <a:defRPr sz="1650" b="1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E4F2"/>
                </a:solidFill>
                <a:latin typeface="Arial"/>
                <a:ea typeface="Arial"/>
                <a:cs typeface="Arial"/>
              </a:rPr>
              <a:t>P(E)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2AED0-C6E0-4EF8-A144-CF24FEC8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29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5D413-0F42-4938-A7D0-2ABC5403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672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Posterior is recalculated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E72CC-8A22-4481-A20D-76877F0A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990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C1E26-C490-4713-A603-F490693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533650" cy="37147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068F2-333D-4A5E-B91A-712336E0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ROUTE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21160-A9D9-4457-BF66-1C7E8F58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edge 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F54F1E-4649-4A83-A87D-E76A33C0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distance</a:t>
            </a:r>
          </a:p>
          <a:p xmlns:a="http://schemas.openxmlformats.org/drawingml/2006/main">
            <a:pPr algn="ctr">
              <a:defRPr sz="19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+ λ ×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FF10D-596A-453C-9A89-A1E73322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risk weight λ lets the operator choose how strongly danger influences the route.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41B28-5DC7-42DC-B34E-ABD2442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Explainability: every risky edge shows its probability, evidence and contribution to total cost.</a:t>
            </a:r>
          </a:p>
        </p:txBody>
      </p:sp>
    </p:spTree>
    <p:extLst>
      <p:ext uri="{BB962C8B-B14F-4D97-AF65-F5344CB8AC3E}">
        <p14:creationId xmlns:p14="http://schemas.microsoft.com/office/powerpoint/2010/main" val="446928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26FF14-43FC-4DD0-8897-AFD789D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F2B02-1DFF-4A0F-BB02-B74765D8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DYNAMIC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0C756-9271-448B-A2FF-3755429D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When an edge becomes unsafe, the plan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072E0-4411-4F6D-A0AC-32002E8B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7EE2F-2B34-493A-9FDD-07359854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E9098-3983-4925-9327-E63D041D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38B6A-BA71-4878-BEB0-DAFEAE2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3914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8DCBB-78FF-4681-9E2A-622BEC454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c0ff56871462b"/>
          <a:stretch xmlns:a="http://schemas.openxmlformats.org/drawingml/2006/main"/>
        </p:blipFill>
        <p:spPr>
          <a:xfrm xmlns:a="http://schemas.openxmlformats.org/drawingml/2006/main">
            <a:off x="2814458" y="1714500"/>
            <a:ext cx="2714983" cy="4248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CF193-C090-4361-99FF-442598D2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67100" cy="42481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E4C14-B273-43C5-B788-AF7AFBC3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REPLAN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D2F1D-8A5B-43E4-8E73-321CDE20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62F31-2488-49BD-BD4E-7F2E3055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9A8DD-E6A4-4A15-B215-ABEF04D7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7A1E6-58C6-4AAE-93EB-10800CFD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Read the latest sensor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F77E6-7321-4A99-BF23-770AB3AD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36A9C-C341-4AA4-9893-DF4A641C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59109-02F9-4F75-95AF-C0A6C22D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A7270-AE2E-4825-95C1-6D73D66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Recalculate affected edge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FC4B6-4F1D-430D-95CF-9E7672B4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C4AB0-8490-46C1-B235-7009AA5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B3DEE-F3E2-4A78-BA51-7251FA2D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62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DEB82-D1DC-4D90-9744-C85CCBFA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Run A* from the current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B7FC5-4B24-4135-928A-5E2B6750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434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7F9D6-5DB1-4DDB-920F-C5CF165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91737-3D12-4D95-A64C-7724C4CE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2BCEE-C8FD-4DEC-BF77-07EEEB7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91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Show why the route changed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3E57B-5A28-41AC-94B0-BC81E3BA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67350"/>
            <a:ext cx="2552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9F812-DC12-46E3-9262-A51B07D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SENSE  →  PLAN  →  ACT</a:t>
            </a:r>
          </a:p>
        </p:txBody>
      </p:sp>
    </p:spTree>
    <p:extLst>
      <p:ext uri="{BB962C8B-B14F-4D97-AF65-F5344CB8AC3E}">
        <p14:creationId xmlns:p14="http://schemas.microsoft.com/office/powerpoint/2010/main" val="1579766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04DEC-EBB6-448D-8A0A-C7E30205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2658C-2E6A-46B5-9985-463874DC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MULTI-AGENT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C04F9-4F6E-4134-B28D-907623C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Joint assignment reduces bottlenecks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98A99-2736-4D26-A7F2-BE412ADA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235E8-897F-48E2-9236-6CFAB030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04D4B-C9DE-403B-9507-21F66B21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EB500-6EC8-422A-9274-64835B45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708660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B90AC-97D4-49D7-8A94-32C84DB97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358ae97ab499a"/>
          <a:stretch xmlns:a="http://schemas.openxmlformats.org/drawingml/2006/main"/>
        </p:blipFill>
        <p:spPr>
          <a:xfrm xmlns:a="http://schemas.openxmlformats.org/drawingml/2006/main">
            <a:off x="2710758" y="1714500"/>
            <a:ext cx="2617585" cy="4095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20000-D7CF-4C2F-9FDF-AEC5D3E21404}"/>
              </a:ext>
            </a:extLst>
          </p:cNvPr>
          <p:cNvGraphicFramePr/>
          <p:nvPr/>
        </p:nvGraphicFramePr>
        <p:xfrm>
          <a:off xmlns:a="http://schemas.openxmlformats.org/drawingml/2006/main" x="7810500" y="1714500"/>
          <a:ext xmlns:a="http://schemas.openxmlformats.org/drawingml/2006/main" cx="377190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52550"/>
                <a:gridCol w="1581150"/>
                <a:gridCol w="838200"/>
              </a:tblGrid>
              <a:tr h="5238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Assigned exit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0B172A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 marL="91440" marR="91440" marT="45720" marB="45720">
                    <a:solidFill>
                      <a:srgbClr val="38BD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3.6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Cafeteria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North Gate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182E4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Science Lab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South Exit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D7E4F2"/>
                          </a:solidFill>
                          <a:latin typeface="Arial"/>
                          <a:ea typeface="Arial"/>
                          <a:cs typeface="Arial"/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12243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81250-3DB9-4B44-A744-09FBF29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5B332-F1FA-41FA-B181-38936C1C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84887-BF5A-4779-92E2-0D55EBD4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JOINT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D2C10-3088-40E3-A3E1-28C7F48E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95750"/>
            <a:ext cx="1790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54B9A-71DC-4AD7-AA86-CD392A98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291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5C080-EED7-46B3-9064-B1452314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910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SHARED CORRIDORS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36406-F950-449F-BD7B-C9B97DB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The optimizer tests exit combinations, capacity limits and corridor overlap before choosing a joint plan.</a:t>
            </a:r>
          </a:p>
        </p:txBody>
      </p:sp>
    </p:spTree>
    <p:extLst>
      <p:ext uri="{BB962C8B-B14F-4D97-AF65-F5344CB8AC3E}">
        <p14:creationId xmlns:p14="http://schemas.microsoft.com/office/powerpoint/2010/main" val="7560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F3FD2-4EC9-4BAF-ADBD-A490F1C8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EEA3B-5581-4765-A916-86E9546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LOCAL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2C2FD-4268-47F4-AE68-872797A8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genetic algorithm places scarce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6F7C5-D8E0-4B61-B67A-F17C19AE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7120A-B372-4F15-B58F-1106AAFA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6FC5F-5156-4872-A166-AA295F9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389CB-B120-4C7A-BD59-4356C015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63436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EA97D-B88C-47E9-BEA7-44CEC82E44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7c841a16345a2"/>
          <a:stretch xmlns:a="http://schemas.openxmlformats.org/drawingml/2006/main"/>
        </p:blipFill>
        <p:spPr>
          <a:xfrm xmlns:a="http://schemas.openxmlformats.org/drawingml/2006/main">
            <a:off x="2339283" y="1714500"/>
            <a:ext cx="2617585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6B14D-49F4-4DCD-8D49-1521733A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45148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ED4A1-A45C-4048-BFD9-568207F5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FITNESS IMPROVEMENT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1A362AE0-FC03-48CA-83A0-0725B0ADF403}"/>
              </a:ext>
            </a:extLst>
          </p:cNvPr>
          <p:cNvGraphicFramePr/>
          <p:nvPr/>
        </p:nvGraphicFramePr>
        <p:xfrm>
          <a:off xmlns:a="http://schemas.openxmlformats.org/drawingml/2006/main" x="7372350" y="2400300"/>
          <a:ext xmlns:a="http://schemas.openxmlformats.org/drawingml/2006/main" cx="39052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d5b15ad1514702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BE578-8322-469D-97A4-DE822EAA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99326-82C8-471F-86B7-00513925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Computer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EC584-02F8-4440-99BF-CEA6D7AB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006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36BBA-566B-47E8-B366-11C91A0B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Sports Hall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9A400-AA57-4481-A9FE-935C913D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57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Selected resource locations</a:t>
            </a:r>
          </a:p>
        </p:txBody>
      </p:sp>
    </p:spTree>
    <p:extLst>
      <p:ext uri="{BB962C8B-B14F-4D97-AF65-F5344CB8AC3E}">
        <p14:creationId xmlns:p14="http://schemas.microsoft.com/office/powerpoint/2010/main" val="434290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12D608-B65A-4834-8E87-FE84455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DB2E3-1577-4BFC-9D95-31254ED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476B5-1D74-4547-B932-B8368AB2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system separates evidence, algorithms and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103A5-1889-452F-B27D-91BA32AB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0FE8-8404-4B27-9E1D-4DC2B1F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FCD19-E55C-4AA7-B9EA-B58048C6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7C2AD-05BC-441F-9DD0-F1E08274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7239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F8134-6C46-41E8-8834-582E0F8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Streamlit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18102-D745-48FF-ACB0-C4BFE348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954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Scenario controls, map editor, visual explanations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234D1-A8C4-47D3-A327-E683B8C7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6172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A3C7C-245A-4C42-B27C-77A629F9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Planning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9BAB2-1284-452A-8B27-0E4DB972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670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Search comparison, replanning, multi-agent coordination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E2FC8-E585-4275-B805-3630CF85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76650"/>
            <a:ext cx="5105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DE438-4BFC-49BE-A4E8-EE626599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9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Reasoning engines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D0E26-0DB2-4372-B841-3B9D50E5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Bayesian risk and genetic 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CE19B-F90D-4545-B876-4392F5F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40386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4AE61-3018-42B8-8253-B49963BE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91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Domain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B8874-C387-40CE-AD87-90B6569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Nodes, edges, hazards, exits, agents and resources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A6BE9-1A01-484E-84B4-CD68D2EB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3200400" cy="3657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E706A-D44C-410D-8E84-B3064962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DESIGN PRINCIPLES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2B2F4-4D17-4A62-9701-C71E09C3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0B8FD-795A-4E4D-A92E-03E0674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3F39A-8C5E-45AD-AECE-86C94EAA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Seeds make experiments repeatable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32D48-33D9-4110-855D-0D684CA4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271BE-B3C4-4B3F-986E-A22B46C2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Inspectable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29BF0-60AD-485B-8AEB-2B6F7460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Manual algorithms expose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658C9-031E-49A5-A977-F3526F9F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CFF132-449C-47F4-A35B-7EA6EB7C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Editable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125A6-960F-4004-B087-04FC66BA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62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Custom maps can be entered as 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BE831-D2A3-48DB-86AC-77A8DA17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1EF63B-C741-4A73-8A74-3983960B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Tested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B11CB-E5B5-4356-8207-2C0941DF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Nine automated checks protect behavior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21E7B3-3B37-46DC-A7BF-AE8A7777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320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E871D8-30DE-4E22-A660-21750416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BE1598-86DC-4217-876F-DBD0D273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15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719257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34183-F3DB-4440-9F42-B8C47472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15D44-E149-4F6E-AF7F-4D22AB9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ABD05-BDD4-4A9D-9338-692067DA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Experiments make the tradeoffs measurable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C46E6-D72C-4E56-837E-CB1FB31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06A6B-BA66-4B85-BF40-A84A681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BCFA9-E4DB-49DD-9D29-D9C8AF25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BED70-B519-4E98-A97F-0F9E5484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8580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C2DDA-035C-4B63-B471-24392597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632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LIBRARY FIRE SCENARIO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943C8B28-92A6-41CE-80CE-5BEDD5B20528}"/>
              </a:ext>
            </a:extLst>
          </p:cNvPr>
          <p:cNvGraphicFramePr/>
          <p:nvPr/>
        </p:nvGraphicFramePr>
        <p:xfrm>
          <a:off xmlns:a="http://schemas.openxmlformats.org/drawingml/2006/main" x="819150" y="2400300"/>
          <a:ext xmlns:a="http://schemas.openxmlformats.org/drawingml/2006/main" cx="632460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e86511396745a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97AC8-64AF-46AA-8FF9-4427C58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3848100" cy="394335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58D51-BF7E-4D90-B084-55801BBC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12671-D0B8-410A-B876-2C3C037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BEF78-F3C0-468D-AB0D-ED239AF3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5851A-BEDD-4B9E-AE4B-F98B2DD8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050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lowest risk-aware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11CBD-C3B3-4831-AB35-8C6E19D6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A0258-690A-45FE-AFC3-1EB50A94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4374E-0418-4BCF-ADCD-150A1A7A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few expansions, weak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C4268-5F6A-4C3F-9106-8DDB1A44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DEB5A-E76C-45B6-B495-317F3EF7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Multi-agent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BEB59-FA70-4A55-B75A-7E282547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766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zero shared corridors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B747F-55DE-44FA-91CA-9C183AE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BA1CC-69C1-4CFB-9FFB-A12DD3C2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Genetic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9B3D7-F640-4CDC-8F5A-D13A5657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6247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fitness improved 5.8%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086D2-4A43-4CE7-9250-F79A8EFE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20 search runs  •  5 scenarios  •  fixed seeds  •  CSV evidence</a:t>
            </a:r>
          </a:p>
        </p:txBody>
      </p:sp>
    </p:spTree>
    <p:extLst>
      <p:ext uri="{BB962C8B-B14F-4D97-AF65-F5344CB8AC3E}">
        <p14:creationId xmlns:p14="http://schemas.microsoft.com/office/powerpoint/2010/main" val="806405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75BB2-1BBC-47A5-948D-66109465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4CB88-3141-44AD-82BD-74D021E6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CA175-F4C3-408E-BC9B-E2097D8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complete, explainable AI course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F7DB2-2823-4446-84DA-F066A272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35F"/>
          </a:solidFill>
          <a:ln xmlns:a="http://schemas.openxmlformats.org/drawingml/2006/main" w="0">
            <a:solidFill>
              <a:srgbClr val="2943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D6085-9462-486B-AB98-FB40099C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A9BF"/>
                </a:solidFill>
                <a:latin typeface="Arial"/>
                <a:ea typeface="Arial"/>
                <a:cs typeface="Arial"/>
              </a:rPr>
              <a:t>SafeRoute AI  |  Explainable evacuation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B2AFA-A646-4E68-87CE-C93841D6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93A9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9B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1F44B-6688-4646-B898-0609C18D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B14A0-A4CC-47F0-90E5-D2197B02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273F4-A0E1-4E8E-ACE8-5FB3EA9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BFS, DFS, Greedy and A*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27D3D-A02B-49C7-B2D4-63C5C7B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3502D-25FD-4556-9921-3A537095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24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2AE5E-7438-42E7-A676-8216539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47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Bayesian hazard 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70A18-818A-485E-9E4B-1DCAEECE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BBDEA-C152-4C93-BCC0-A4350EA7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B3BF8-8A89-4F1E-8FDA-FA6F7A35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Dynamic and multi-agent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15A8F-2B8D-495C-9775-FD30AB90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695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D7ACC-9C09-452A-A7FD-DA3FF23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8F45D-75EA-49C4-94D9-4E47D56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Genetic resource placement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58FD2-841E-4121-94BF-D4934041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838450" cy="34861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2243C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48C9C-D375-49DA-AA77-A80E4C83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HONEST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C23C7-F485-4C6F-A80D-D3BB20EE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05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Simulated sensor inputs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Small graph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No crowd physics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7E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E4F2"/>
                </a:solidFill>
                <a:latin typeface="Arial"/>
                <a:ea typeface="Arial"/>
                <a:cs typeface="Arial"/>
              </a:rPr>
              <a:t>• Decision support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2E5E4-8277-4A18-9651-B9FD14E2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1924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AC945-3857-4A8F-A394-945F7B1D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READY FOR LIVE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22565-206B-4CA8-A9C4-14DB75DC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696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82E49"/>
          </a:solidFill>
          <a:ln xmlns:a="http://schemas.openxmlformats.org/drawingml/2006/main" w="9525">
            <a:solidFill>
              <a:srgbClr val="2943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B67FF-64B3-46DB-B8B9-C4CFF816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EEA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EAD4"/>
                </a:solidFill>
                <a:latin typeface="Arial"/>
                <a:ea typeface="Arial"/>
                <a:cs typeface="Arial"/>
              </a:rPr>
              <a:t>Core message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5E922-DFBD-4678-8B50-4BEAF23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706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SafeRoute AI links course theory to a working system whose decisions can be demonstrated, measured and defended.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6E4DF-3CC1-4B51-9795-E85DDCF0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769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30695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2026-10-13T15:31:26.9560000Z</dcterms:created>
  <dcterms:modified xsi:type="dcterms:W3CDTF">2026-10-13T15:31:26.9560000Z</dcterms:modified>
</coreProperties>
</file>