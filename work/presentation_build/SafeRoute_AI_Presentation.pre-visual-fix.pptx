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fd41c894549bc" /><Relationship Type="http://schemas.openxmlformats.org/officeDocument/2006/relationships/extended-properties" Target="/docProps/app.xml" Id="Rf1ad5b98533e44b2" /><Relationship Type="http://schemas.openxmlformats.org/officeDocument/2006/relationships/officeDocument" Target="/ppt/presentation.xml" Id="Rb704b4236c22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e02929c5e43ac"/>
  </p:sldMasterIdLst>
  <p:notesMasterIdLst>
    <p:notesMasterId xmlns:r="http://schemas.openxmlformats.org/officeDocument/2006/relationships" r:id="R40aa63409aed4298"/>
  </p:notesMasterIdLst>
  <p:sldIdLst>
    <p:sldId xmlns:r="http://schemas.openxmlformats.org/officeDocument/2006/relationships" id="256" r:id="Rba81d59c8c884eb9"/>
    <p:sldId xmlns:r="http://schemas.openxmlformats.org/officeDocument/2006/relationships" id="257" r:id="Rf3c04a2ae0204132"/>
    <p:sldId xmlns:r="http://schemas.openxmlformats.org/officeDocument/2006/relationships" id="258" r:id="Rc910f0bbdb0140ff"/>
    <p:sldId xmlns:r="http://schemas.openxmlformats.org/officeDocument/2006/relationships" id="259" r:id="R4e1a0b0833314e05"/>
    <p:sldId xmlns:r="http://schemas.openxmlformats.org/officeDocument/2006/relationships" id="260" r:id="R8ac8a77e9eca4d2d"/>
    <p:sldId xmlns:r="http://schemas.openxmlformats.org/officeDocument/2006/relationships" id="261" r:id="R1241b0c6e28941fa"/>
    <p:sldId xmlns:r="http://schemas.openxmlformats.org/officeDocument/2006/relationships" id="262" r:id="R2d7b0d632287469c"/>
    <p:sldId xmlns:r="http://schemas.openxmlformats.org/officeDocument/2006/relationships" id="263" r:id="R3c9ae318ae2f4502"/>
    <p:sldId xmlns:r="http://schemas.openxmlformats.org/officeDocument/2006/relationships" id="264" r:id="R6381adb95f534830"/>
    <p:sldId xmlns:r="http://schemas.openxmlformats.org/officeDocument/2006/relationships" id="265" r:id="Rfbb6de327eb44f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eaf741a664d71" /><Relationship Type="http://schemas.openxmlformats.org/officeDocument/2006/relationships/slideMaster" Target="/ppt/slideMasters/slideMaster1.xml" Id="Rcf8e02929c5e43ac" /><Relationship Type="http://schemas.openxmlformats.org/officeDocument/2006/relationships/notesMaster" Target="/ppt/notesMasters/notesMaster1.xml" Id="R40aa63409aed4298" /><Relationship Type="http://schemas.openxmlformats.org/officeDocument/2006/relationships/presProps" Target="/ppt/presProps.xml" Id="R6a370ae08d844f1b" /><Relationship Type="http://schemas.openxmlformats.org/officeDocument/2006/relationships/tableStyles" Target="/ppt/tableStyles.xml" Id="R8f9df15c7cb845f9" /><Relationship Type="http://schemas.openxmlformats.org/officeDocument/2006/relationships/slide" Target="/ppt/slides/slide1.xml" Id="Rba81d59c8c884eb9" /><Relationship Type="http://schemas.openxmlformats.org/officeDocument/2006/relationships/slide" Target="/ppt/slides/slide2.xml" Id="Rf3c04a2ae0204132" /><Relationship Type="http://schemas.openxmlformats.org/officeDocument/2006/relationships/slide" Target="/ppt/slides/slide3.xml" Id="Rc910f0bbdb0140ff" /><Relationship Type="http://schemas.openxmlformats.org/officeDocument/2006/relationships/slide" Target="/ppt/slides/slide4.xml" Id="R4e1a0b0833314e05" /><Relationship Type="http://schemas.openxmlformats.org/officeDocument/2006/relationships/slide" Target="/ppt/slides/slide5.xml" Id="R8ac8a77e9eca4d2d" /><Relationship Type="http://schemas.openxmlformats.org/officeDocument/2006/relationships/slide" Target="/ppt/slides/slide6.xml" Id="R1241b0c6e28941fa" /><Relationship Type="http://schemas.openxmlformats.org/officeDocument/2006/relationships/slide" Target="/ppt/slides/slide7.xml" Id="R2d7b0d632287469c" /><Relationship Type="http://schemas.openxmlformats.org/officeDocument/2006/relationships/slide" Target="/ppt/slides/slide8.xml" Id="R3c9ae318ae2f4502" /><Relationship Type="http://schemas.openxmlformats.org/officeDocument/2006/relationships/slide" Target="/ppt/slides/slide9.xml" Id="R6381adb95f534830" /><Relationship Type="http://schemas.openxmlformats.org/officeDocument/2006/relationships/slide" Target="/ppt/slides/slide10.xml" Id="Rfbb6de327eb4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c8cd6efc94b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b045c6be04a13" /><Relationship Type="http://schemas.openxmlformats.org/officeDocument/2006/relationships/notesMaster" Target="/ppt/notesMasters/notesMaster1.xml" Id="Rcddb350064dd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9aaaceaf6453b" /><Relationship Type="http://schemas.openxmlformats.org/officeDocument/2006/relationships/notesMaster" Target="/ppt/notesMasters/notesMaster1.xml" Id="Rae9499a6a0024a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c40c41b0b04880" /><Relationship Type="http://schemas.openxmlformats.org/officeDocument/2006/relationships/notesMaster" Target="/ppt/notesMasters/notesMaster1.xml" Id="R5837e09f9c98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9ad2b6a504898" /><Relationship Type="http://schemas.openxmlformats.org/officeDocument/2006/relationships/notesMaster" Target="/ppt/notesMasters/notesMaster1.xml" Id="R0c3a15fc2e0443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173997d444b40" /><Relationship Type="http://schemas.openxmlformats.org/officeDocument/2006/relationships/notesMaster" Target="/ppt/notesMasters/notesMaster1.xml" Id="R24d036627edf41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26f9152ba4cdb" /><Relationship Type="http://schemas.openxmlformats.org/officeDocument/2006/relationships/notesMaster" Target="/ppt/notesMasters/notesMaster1.xml" Id="R8c72bdd4bcce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b52f6b5fd485d" /><Relationship Type="http://schemas.openxmlformats.org/officeDocument/2006/relationships/notesMaster" Target="/ppt/notesMasters/notesMaster1.xml" Id="R85e5e90e56a944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38fcb3f6e44831" /><Relationship Type="http://schemas.openxmlformats.org/officeDocument/2006/relationships/notesMaster" Target="/ppt/notesMasters/notesMaster1.xml" Id="Rfd89395669eb4e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5985df92694dee" /><Relationship Type="http://schemas.openxmlformats.org/officeDocument/2006/relationships/notesMaster" Target="/ppt/notesMasters/notesMaster1.xml" Id="Red6c225b520c4d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0d3a40ab56471e" /><Relationship Type="http://schemas.openxmlformats.org/officeDocument/2006/relationships/notesMaster" Target="/ppt/notesMasters/notesMaster1.xml" Id="R9f3b94f1bf3f4e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SafeRoute AI as an explainable decision support system for emergency evacuation. State that every recommendation can be traced to search, probability, or optimization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state-space representation: a person occupies one graph node, actions traverse edges, and the goal test checks whether an exit is reached. The path cost combines distance, Bayesian risk, and optional congestion.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contrast uninformed and informed search. Emphasize that A star uses both accumulated cost and a heuristic. Mention that all four algorithms are implemented manually so the logic is visible for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Bayes rule equation to explain why the model does not treat a sensor as perfect. Multiple observations update the probability of danger, and that posterior probability becomes a path cost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Replanning tab. Select an edge, increase its hazard probability, and apply the event. The system replans from the current position and displays both the old and new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planning agents independently can overload the same route. This module evaluates joint exit assignments and penalizes shared corridors while respecting exit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chromosome as a set of selected locations. Fitness measures weighted response distance. Selection, crossover, mutation, and elitism produce better placements across generations.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interface down to the domain model. Emphasize modularity: each algorithm is independent and tested, while the UI only coordinates inputs and visualizes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show that the fewest expanded nodes does not necessarily mean the best route. In the fire scenario, A star accepts a longer physical route to obtain the lowest combined distance and risk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mapping the project to the syllabus and stating the limitations honestly. Then invite the evaluator to choose a scenario for a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5805a3b5b48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b24f8a02b44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5a377b7b34f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ae6d7842c41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7c4a5473147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3b0c9ad3147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AD5E2C-BE7D-4BAA-947B-7A6EC115C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FFD5B8-591D-463D-A886-4E92BA224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02C224-E653-4E16-81FB-8184A4314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19B17-E2C7-499A-89F3-863E2A1E0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90B224-3AF4-4992-8F91-C71747E42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81DF7F-FD6F-43DC-8518-D6BEDF0F2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3E57F3-0C8B-4339-AA0B-A23254EB3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70BDD0-A7F5-49D8-B194-99776ACFE3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E8E2E-E472-4DF0-9D30-489AA7001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ABDF42-F6F2-4956-95F8-3E415BE20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e0160d8e4498f" /><Relationship Type="http://schemas.openxmlformats.org/officeDocument/2006/relationships/slideLayout" Target="/ppt/slideLayouts/slideLayout1.xml" Id="Ra04d30aeeac34e5a" /><Relationship Type="http://schemas.openxmlformats.org/officeDocument/2006/relationships/slideLayout" Target="/ppt/slideLayouts/slideLayout2.xml" Id="R334749f19a08469f" /><Relationship Type="http://schemas.openxmlformats.org/officeDocument/2006/relationships/slideLayout" Target="/ppt/slideLayouts/slideLayout3.xml" Id="Ref1f63f8e6134019" /><Relationship Type="http://schemas.openxmlformats.org/officeDocument/2006/relationships/slideLayout" Target="/ppt/slideLayouts/slideLayout4.xml" Id="R9a062eae16c74c40" /><Relationship Type="http://schemas.openxmlformats.org/officeDocument/2006/relationships/slideLayout" Target="/ppt/slideLayouts/slideLayout5.xml" Id="Rd9ecbf4abb2541eb" /><Relationship Type="http://schemas.openxmlformats.org/officeDocument/2006/relationships/slideLayout" Target="/ppt/slideLayouts/slideLayout6.xml" Id="Rd5f648b29b9c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d30aeeac34e5a"/>
    <p:sldLayoutId xmlns:r="http://schemas.openxmlformats.org/officeDocument/2006/relationships" id="2147483650" r:id="R334749f19a08469f"/>
    <p:sldLayoutId xmlns:r="http://schemas.openxmlformats.org/officeDocument/2006/relationships" id="2147483651" r:id="Ref1f63f8e6134019"/>
    <p:sldLayoutId xmlns:r="http://schemas.openxmlformats.org/officeDocument/2006/relationships" id="2147483652" r:id="R9a062eae16c74c40"/>
    <p:sldLayoutId xmlns:r="http://schemas.openxmlformats.org/officeDocument/2006/relationships" id="2147483653" r:id="Rd9ecbf4abb2541eb"/>
    <p:sldLayoutId xmlns:r="http://schemas.openxmlformats.org/officeDocument/2006/relationships" id="2147483654" r:id="Rd5f648b29b9c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916ce32b94171" /><Relationship Type="http://schemas.openxmlformats.org/officeDocument/2006/relationships/notesSlide" Target="/ppt/notesSlides/notesSlide1.xml" Id="R8010a3e686df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d2f86867b4888" /><Relationship Type="http://schemas.openxmlformats.org/officeDocument/2006/relationships/notesSlide" Target="/ppt/notesSlides/notesSlide2.xml" Id="R09649c2aeb344a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c708594d44495" /><Relationship Type="http://schemas.openxmlformats.org/officeDocument/2006/relationships/notesSlide" Target="/ppt/notesSlides/notesSlide3.xml" Id="Ra8f9d634bdf34b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8b54fe2744d55" /><Relationship Type="http://schemas.openxmlformats.org/officeDocument/2006/relationships/notesSlide" Target="/ppt/notesSlides/notesSlide4.xml" Id="Rb7aaad48d46a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91b7acd434d7b" /><Relationship Type="http://schemas.openxmlformats.org/officeDocument/2006/relationships/image" Target="/ppt/media/image.png" Id="R2a9c1208269942f1" /><Relationship Type="http://schemas.openxmlformats.org/officeDocument/2006/relationships/notesSlide" Target="/ppt/notesSlides/notesSlide5.xml" Id="R8a6ef9e7c14d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75bf11c864ab5" /><Relationship Type="http://schemas.openxmlformats.org/officeDocument/2006/relationships/image" Target="/ppt/media/image2.png" Id="Rc8d6a93d333443c5" /><Relationship Type="http://schemas.openxmlformats.org/officeDocument/2006/relationships/notesSlide" Target="/ppt/notesSlides/notesSlide6.xml" Id="Rd56ce12c07c0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f497db09a401d" /><Relationship Type="http://schemas.openxmlformats.org/officeDocument/2006/relationships/image" Target="/ppt/media/image3.png" Id="Ra7f425ae80074743" /><Relationship Type="http://schemas.openxmlformats.org/officeDocument/2006/relationships/chart" Target="/ppt/slides/charts/chart1.xml" Id="R91d40d8d4212485b" /><Relationship Type="http://schemas.openxmlformats.org/officeDocument/2006/relationships/notesSlide" Target="/ppt/notesSlides/notesSlide7.xml" Id="R23bc22348b8147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8e19e6cec40e7" /><Relationship Type="http://schemas.openxmlformats.org/officeDocument/2006/relationships/notesSlide" Target="/ppt/notesSlides/notesSlide8.xml" Id="R4080724ef0ca44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1152c3dad43a9" /><Relationship Type="http://schemas.openxmlformats.org/officeDocument/2006/relationships/chart" Target="/ppt/slides/charts/chart2.xml" Id="R2d7e59e44aad4aa0" /><Relationship Type="http://schemas.openxmlformats.org/officeDocument/2006/relationships/notesSlide" Target="/ppt/notesSlides/notesSlide9.xml" Id="R7ffef7f9b6c44d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bdcc3bcff4853" /><Relationship Type="http://schemas.openxmlformats.org/officeDocument/2006/relationships/notesSlide" Target="/ppt/notesSlides/notesSlide10.xml" Id="R0ac10e664a2a42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Fitness</c:v>
          </c:tx>
          <c:spPr>
            <a:solidFill xmlns:a="http://schemas.openxmlformats.org/drawingml/2006/main">
              <a:srgbClr val="FBBF24"/>
            </a:solidFill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4.756</c:v>
                </c:pt>
                <c:pt idx="1">
                  <c:v>4.62</c:v>
                </c:pt>
                <c:pt idx="2">
                  <c:v>4.55</c:v>
                </c:pt>
                <c:pt idx="3">
                  <c:v>4.51</c:v>
                </c:pt>
                <c:pt idx="4">
                  <c:v>4.49</c:v>
                </c:pt>
                <c:pt idx="5">
                  <c:v>4.48</c:v>
                </c:pt>
                <c:pt idx="6">
                  <c:v>4.478</c:v>
                </c:pt>
                <c:pt idx="7">
                  <c:v>4.478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Risk-aware cost</c:v>
          </c:tx>
          <c:spPr>
            <a:solidFill xmlns:a="http://schemas.openxmlformats.org/drawingml/2006/main">
              <a:srgbClr val="38BDF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Greedy</c:v>
                </c:pt>
                <c:pt idx="3">
                  <c:v>A*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33.875</c:v>
                </c:pt>
                <c:pt idx="1">
                  <c:v>37</c:v>
                </c:pt>
                <c:pt idx="2">
                  <c:v>33.875</c:v>
                </c:pt>
                <c:pt idx="3">
                  <c:v>32.1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05711-A8DE-4B1E-8CB0-42DD235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1608-FF91-465A-8617-2DC1925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ACADEMIC AI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DB8AC-1316-4E37-BBC5-564602D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EA987-6431-4014-934C-54BE675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Explainable evacuation planning under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7996F-0800-470C-BD8E-DC7CF24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algorithms  •  Bayesian risk  •  Dynamic planning</a:t>
            </a:r>
          </a:p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Multi-agent coordination  •  Genetic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5293-01C4-4272-8A63-0B774D98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3429000" cy="45148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C4651-9EB9-4292-AAA4-71698D0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FROM SENSOR TO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1427A-3872-4057-83B8-E16AC28E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7C959-F3CC-4295-998C-504D686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63B15-5A0B-472A-AC18-C918868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PERCEIVE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9F403-424A-4EDC-A10E-A071271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Smoke and fire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E169D-C4AF-43BC-ACA7-6378F05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E3776-F6FA-4639-BD5A-849ADF2B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52E5D-9E5A-4015-89E8-04ECD03E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D9568-DCE9-4C8C-8CA5-6577F8F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Bayesian edge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05DF8-D062-4651-A34C-C3B91ED4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C0537-6CDD-4535-8A8A-11B9DEF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20A80-86A5-4ED4-A8D9-447DE9F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25749-E58B-4596-9E80-616AC61F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and live replanning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390BF-3C56-4034-8535-B648A368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8147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0F6AF-B580-48A0-B41D-7678461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67FC0-8C42-4AA2-8073-BB754B45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D4011-6742-4929-8E05-6EEC4418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Capacity-aware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C5784-6392-4547-BB77-2D184E94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C0A1C-2306-412E-807B-3056D95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Student: ____________________    Register no.: ____________________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C5512-7C3A-470D-9EDA-B40156A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10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AI course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EB6CD-B751-4968-A79F-5064D82B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362695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78291-3014-47A7-AA64-A47D83C8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726F6-97E1-4030-A967-BC58502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6ED58-BCE0-46DA-A62C-65B27F2D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campus becomes a weighted state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06875-224F-446D-9FA0-08AC0748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9D999-8AFB-4FE8-9C77-F83F1C7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35029-8E4E-43F2-843F-604CE30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00CAA-B9E4-4ECA-9070-C14E132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2FFF1-BE68-42BF-BBAD-303E00D4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2C396-F056-4F8C-A2B7-2417B73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30AC9-250C-4331-AAB9-E1FEB0C7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8B47A-AD26-4252-BE27-F9BA6F6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533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73A81-DB02-479D-B87F-DB7C70B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DE3D4-299D-4D28-A6EE-9472B3F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5C089-FC11-4E04-94E9-C5CDCDCD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B128D-41FB-4D70-98B9-5DD9092E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881D9-5940-4B10-A9B4-2DE06FC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739BA-9174-4D3B-8EB9-FB666125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F6282-1F31-4387-A5B1-8F1F8F3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Science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46AB8-7521-4736-92FF-1867910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FC505-124A-496D-A9AE-66DCF063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North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5029B-3D2B-4D56-A7E1-DEE8B73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E92AE-00C1-4E25-AECA-4AE0394E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South 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AB25B-D180-45ED-A333-1D0A9E11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20002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D7FBC-64CF-44F4-BF6D-6C9FC0B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AD9A5-99E0-43C8-B461-BD287D1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Current 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240D7-4970-4BAE-8929-0212BAFC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868D6-9B25-4B4A-A59F-CAFE5B6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Move to an adjacent 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1D983-5027-4BD2-BA42-45CBF34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D2DDC-C7BE-4270-B02D-4C6CDBA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Distance + risk + congestion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A2046-9E5E-4386-B324-6CADD694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8F522-1EBF-4929-9727-72D8DA1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Reach a safe 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F7FCD-4422-427B-B4EB-44488CF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Graph nodes represent locations. Edges store distance and evidence-driven risk.</a:t>
            </a:r>
          </a:p>
        </p:txBody>
      </p:sp>
    </p:spTree>
    <p:extLst>
      <p:ext uri="{BB962C8B-B14F-4D97-AF65-F5344CB8AC3E}">
        <p14:creationId xmlns:p14="http://schemas.microsoft.com/office/powerpoint/2010/main" val="330801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7CCC1-3AF1-4B37-8344-BCBCEFED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8F685-9824-4941-A79C-D3925B2A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9D43A-9923-4F97-84C8-616DE027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Four search strategies reveal different 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67B1C-61DB-45FF-BDB3-5BA7A208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7E045-84E6-4079-86D9-79177EF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55847-239D-4048-8B77-66997F17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51165-E550-4B7E-AB99-E2B398E50E7A}"/>
              </a:ext>
            </a:extLst>
          </p:cNvPr>
          <p:cNvGraphicFramePr/>
          <p:nvPr/>
        </p:nvGraphicFramePr>
        <p:xfrm>
          <a:off xmlns:a="http://schemas.openxmlformats.org/drawingml/2006/main" x="552450" y="1733550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333500"/>
                <a:gridCol w="1143000"/>
                <a:gridCol w="114300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Guidance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Optimal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Observed role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Unit cost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h(n)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Fast estimate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g(n)+h(n)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Recommended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E9A84-8E2A-43E5-9556-A116EAC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30F38-EE3E-48C2-AA5A-3C1532FB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A*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7FC4-D48C-4891-BAC4-2AFAB7A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87D3D-E849-43E0-9CEA-3B299B3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DFA42-4CA2-401D-A571-B4F7E5E3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cost already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D3C5A-BD30-4EFC-9FA4-A790432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E5329-72CF-4092-A3C0-496D988E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34594-8226-476A-AB3F-081EB756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balances measured danger with progress toward safety.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D9701-0E48-4AC3-B67D-3F7568D2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314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93A9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4797F-7567-40B1-8728-8EF52A27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* depends on graph and heuristic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BE79D-FA0C-435D-AF03-E74A4B8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8571E-A61D-4E24-94DB-65AF1A3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69C52-B403-4155-9DDF-AB60C70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 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D3730-60B7-4324-8E53-B528CB7F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3F234-5196-4360-A9B6-65BD2516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DC96B-3151-4BE2-B117-1B70986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SCENARIOS EVALUATED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E672C-1D3A-4D6E-9E7D-9D7690C4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FFD86-FDEE-4615-BD78-A48E4B1F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AA4F3-99CE-49D0-AA53-38FEF615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SEARCH RUNS</a:t>
            </a:r>
          </a:p>
        </p:txBody>
      </p:sp>
    </p:spTree>
    <p:extLst>
      <p:ext uri="{BB962C8B-B14F-4D97-AF65-F5344CB8AC3E}">
        <p14:creationId xmlns:p14="http://schemas.microsoft.com/office/powerpoint/2010/main" val="2081845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9E978-6259-4A24-B8E4-64106BB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7077-8756-4AC2-B659-9B10262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UNCERTAIN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4AD32-C4A3-470A-92ED-0FB826D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Sensor evidence becomes a transparent risk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E3CD8-0624-4B24-9518-7D1FD57D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9713A-8CF5-4456-BB54-E277A3D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AAB4-8E5C-4F6F-A853-4E2FC65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1DD8-55D9-4FEA-8782-AC8D0AE8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514600" cy="3714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D5745-9E79-4053-9275-6F87148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F089-9AA4-4B57-B75A-703B9839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54E9E-C7AC-499E-8244-D658C904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8BF90-E9D3-44F4-B2E7-3E48B2C5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2924E-B735-4498-A5EB-3335338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E36D1-324F-4FB1-BF3B-4D6158CE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E5560-94EA-46FD-B606-4E6DF0F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343E0-FCE6-4380-A2FA-8B32A3EA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BC390-FF8D-4DF2-921F-BA4FCFE8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51DA8-C1A7-45F3-8897-2CFF49F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795D3-04E9-4512-9B19-9D80FFF5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1F561-90A0-49E6-ADF0-2D7FFEC7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86100" cy="3714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AAF03-1ACA-4D8C-AB1F-F43589D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BAYES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96D83-2F50-40C2-8E20-5627CC64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P(Fire | 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24FBE-16CE-4262-8DF0-FBF1F34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55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= P(E | Fire) P(Fire)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——————————————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P(E)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5BA21-5EF4-4C40-812E-AF99C22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77DBD-5012-4AE5-8DC0-82D2217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Posterior is recalculated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677CE-32B3-4429-92C0-429F99F3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3FE73-C5BD-4D40-B87F-18A14786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FF102-56D4-4FD3-8B79-B6FB86E8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ROUTE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46FE6-5D21-4BBB-AFD7-89D6958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edge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D7F88-0CAF-41F7-942D-F2EBB88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 λ ×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444EC-FABA-405F-ACF4-4ACA0E1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risk weight λ lets the operator choose how strongly danger influences the route.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305D6-1231-42F1-87F7-762D094A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Explainability: every risky edge shows its probability, evidence and contribution to total cost.</a:t>
            </a:r>
          </a:p>
        </p:txBody>
      </p:sp>
    </p:spTree>
    <p:extLst>
      <p:ext uri="{BB962C8B-B14F-4D97-AF65-F5344CB8AC3E}">
        <p14:creationId xmlns:p14="http://schemas.microsoft.com/office/powerpoint/2010/main" val="1850511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B8A11-2E7E-4CBB-B40F-392BD3F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3E11-3471-4603-B646-C10467D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DYNAMIC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DBDAA-8B10-4727-96DA-C62E4A93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When an edge becomes unsafe, the plan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990B-B0CF-42DE-A2AC-14B5E14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FF8D-1AF2-4874-9003-05FC8E32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88526-A8D2-4C2F-AF39-CF1A7B25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A266B-95A8-4C79-A5A7-E25F1DC6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3914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5E8E-4A5A-4013-BB1D-A99B6912B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c1208269942f1"/>
          <a:stretch xmlns:a="http://schemas.openxmlformats.org/drawingml/2006/main"/>
        </p:blipFill>
        <p:spPr>
          <a:xfrm xmlns:a="http://schemas.openxmlformats.org/drawingml/2006/main">
            <a:off x="552450" y="1714500"/>
            <a:ext cx="7239000" cy="424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CE382-04DF-4812-8405-9F59F6D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67100" cy="42481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F046A-8CEC-40B0-AEF5-8B86A088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REPLAN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B2560-672A-4275-BC43-0F60E2E6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15ABA-005D-469E-9385-9F6B86F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96160-EB2E-4EC0-8E6F-ABD77D5C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3D40A-4446-4A1F-90CA-4CCE26FD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Read the latest sensor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4BBAD-2CAC-45B6-A401-AFA716B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632DA-25C0-41DD-B28F-BD245106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05555-4000-4D1E-B554-3E5D7DC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16163-B65B-4BA1-B9B3-114B809F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Recalculate affected edge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471D1-99F7-47DB-A3D5-BAD3747C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F973A-A126-472D-846F-6698541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9460D-8481-4370-852B-E57B9CB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01628-43C7-43FD-8B93-5D45788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Run A* from the current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AB65B-A232-4A31-B2E0-DEB7BD4D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6C8930-6563-4AA0-BEEA-6A80ECC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E0E9D-4C37-46C1-A417-87A9452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AAC62-E704-44C4-92FC-1700B54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Show why the route changed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350A2-41E3-4FCF-B37B-5AD4DB6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3316F-14F1-4714-95FC-2B495DDA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SENSE  →  PLAN  →  ACT</a:t>
            </a:r>
          </a:p>
        </p:txBody>
      </p:sp>
    </p:spTree>
    <p:extLst>
      <p:ext uri="{BB962C8B-B14F-4D97-AF65-F5344CB8AC3E}">
        <p14:creationId xmlns:p14="http://schemas.microsoft.com/office/powerpoint/2010/main" val="1610127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71266-ED17-4AE1-8156-40AA11F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90005-4897-475B-8AF3-D33968C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MULTI-AGENT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BF545-DD31-46EE-A4DF-6F602D7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Joint assignment reduces bottlenecks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B9786-ECB3-4860-9B33-A62F7F43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B2633-98C7-48D4-8275-B884427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C6F0F-6649-47A0-AA0E-1831183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BA408-6ACA-495F-B371-FB3D689F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08660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59C6D-5167-4786-9735-2E728C014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a93d333443c5"/>
          <a:stretch xmlns:a="http://schemas.openxmlformats.org/drawingml/2006/main"/>
        </p:blipFill>
        <p:spPr>
          <a:xfrm xmlns:a="http://schemas.openxmlformats.org/drawingml/2006/main">
            <a:off x="552450" y="1714500"/>
            <a:ext cx="6934200" cy="4095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4138E-57B8-4C8C-9310-45B12D6B68A6}"/>
              </a:ext>
            </a:extLst>
          </p:cNvPr>
          <p:cNvGraphicFramePr/>
          <p:nvPr/>
        </p:nvGraphicFramePr>
        <p:xfrm>
          <a:off xmlns:a="http://schemas.openxmlformats.org/drawingml/2006/main" x="7810500" y="1714500"/>
          <a:ext xmlns:a="http://schemas.openxmlformats.org/drawingml/2006/main" cx="37719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52550"/>
                <a:gridCol w="1581150"/>
                <a:gridCol w="838200"/>
              </a:tblGrid>
              <a:tr h="5238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Assigned exit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Cafeteria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Science Lab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South Exit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B3000-9DDD-48CC-B0D3-27328BE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56D45-2CDB-4859-99DA-522D06B0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5295F-1257-48FE-8BD8-C2AB5510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JOINT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1725E-BCDB-49E1-89D5-4DF2BF78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EC743-386A-45C8-ACCE-9E51F0D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D6CE4-E22E-448E-8712-473B7285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SHARED CORRIDORS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6BCBC-BC1F-49B4-877B-8D4F1B8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optimizer tests exit combinations, capacity limits and corridor overlap before choosing a joint plan.</a:t>
            </a:r>
          </a:p>
        </p:txBody>
      </p:sp>
    </p:spTree>
    <p:extLst>
      <p:ext uri="{BB962C8B-B14F-4D97-AF65-F5344CB8AC3E}">
        <p14:creationId xmlns:p14="http://schemas.microsoft.com/office/powerpoint/2010/main" val="395505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762B3-2779-41A7-B6E7-C6047A86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3F7E-4BC4-49CC-91BB-7DB71FD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LOCAL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4B8A6-0FE6-4ACB-BF32-63FA765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genetic algorithm places scarce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65136-C2D4-4B63-85D6-3F22AE52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BF634-7079-4AD9-8DE2-FE5EFB5C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C8A0-5C8E-434B-BB8F-678E830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552D4-0A60-498B-A152-383BC4F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63436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20A41-751A-4CE9-AD57-D1A62E6E6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25ae80074743"/>
          <a:stretch xmlns:a="http://schemas.openxmlformats.org/drawingml/2006/main"/>
        </p:blipFill>
        <p:spPr>
          <a:xfrm xmlns:a="http://schemas.openxmlformats.org/drawingml/2006/main">
            <a:off x="552450" y="1714500"/>
            <a:ext cx="619125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B246C-C410-4852-A0A4-840DD7C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5148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4945E-1A60-482E-B19E-75573B90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FITNESS IMPROVEMENT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448A2BB-20E7-4453-8119-E946893197AE}"/>
              </a:ext>
            </a:extLst>
          </p:cNvPr>
          <p:cNvGraphicFramePr/>
          <p:nvPr/>
        </p:nvGraphicFramePr>
        <p:xfrm>
          <a:off xmlns:a="http://schemas.openxmlformats.org/drawingml/2006/main" x="7372350" y="2400300"/>
          <a:ext xmlns:a="http://schemas.openxmlformats.org/drawingml/2006/main" cx="3905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d40d8d4212485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8F707-0C10-4BCD-A25A-B086A7A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D02F3-A78E-45FB-8F44-BCB7ABC2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Computer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65A01-C05E-4F7F-9669-775CFCFA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BFB65-4633-4397-B46A-1E069AB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Sports Hall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E105B-FA43-4387-82AA-949E40B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Selected resource locations</a:t>
            </a:r>
          </a:p>
        </p:txBody>
      </p:sp>
    </p:spTree>
    <p:extLst>
      <p:ext uri="{BB962C8B-B14F-4D97-AF65-F5344CB8AC3E}">
        <p14:creationId xmlns:p14="http://schemas.microsoft.com/office/powerpoint/2010/main" val="1123080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32BB72-87B6-43A2-A1AB-8E6AA63B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3CBD0-DB58-42D8-A27E-D3EBA0B0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77B2-B843-4EB9-9F24-E8A8670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system separates evidence, algorithms and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DAF3D-4502-43F7-BA9A-B09BBC44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47DC-2271-43F8-A3A9-C61E75D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210D1-ED83-4499-8259-781E67D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2BC70-AE8D-4EC1-84E1-00C8779C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8CF97-BC22-4444-B900-BEF62F3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4BB22-BB56-4AA5-9209-1039EBA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Scenario controls, map editor, visual explanations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2AFEC-9811-41A9-A557-590BF373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6172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06F44-53BA-4602-87D6-294E013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Planning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3B6EE-11D6-416B-886D-5DB4F0F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comparison, replanning, multi-agent coordination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BA852-4270-42FA-9D30-07B2AEF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5105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B8373-BAE6-4746-9C92-37E8A12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Reasoning engines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2F0E5-0895-47D0-B70B-3DD832E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Bayesian risk and genetic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4F3CD-72A5-4417-97DA-473FD511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4038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0A940-34B2-4F8E-92CD-A894B5A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91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D691E-B906-4841-8A43-EA24340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101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Nodes, edges, hazards, exits, agents and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0D668-D91C-4E77-B1A2-03D61FB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3200400" cy="3657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12044-4CBE-406D-927D-78BCD37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C8CE3-2327-47A4-A2F0-1B9413F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39ED1-8B3D-4BFB-ACF6-B0FDFBC2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3C276-A51C-4B03-B36E-83F0EE6D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Seeds make experiments repeatable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82AF2-F0BA-47A5-BB43-117451C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ACEF8-6983-427A-846A-2040A7D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Inspectable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9A03E-0326-4F78-9A34-BB3F8C38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Manual algorithms expose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D7F72-8E2D-4E84-A2FD-B8E95BB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35732-8B44-4819-B3F5-B8241E1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Editable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F02E3-5797-4B4B-A830-3CF0A843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Custom maps can be entered as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6F141-D265-417A-9F1C-0B6D342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ACD32-BC51-4709-951D-F212A89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27BA2-0D0B-4E21-B531-51B1DD28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Nine automated checks protect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A6C7BF-2C86-43F1-95EE-345C6905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20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E4305-608A-48B7-B8F2-5AF08F69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428C5C-9E8F-4336-A1B7-539D3D45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1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425699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7F119-EFEA-4797-8032-36135B7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7B11F-3959-4600-A7A8-9DA9C227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CCB4F-7C6F-411F-9AF5-DC033563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Experiments make the tradeoffs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3BDC-255A-4A67-B109-C49A953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8380D-B98B-4EE8-B847-ABEBFAE6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5D563-11C8-4BC6-B6EE-38038AE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F6615-E650-49DA-9700-C13F991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858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09D98-F9A5-4795-9926-F263CAF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LIBRARY FIRE SCENARIO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642699E7-AFC5-467E-B5E4-B95BF6058568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63246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7e59e44aad4aa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76232-DE0D-4252-8055-5B6D314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848100" cy="39433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31519-04E3-4533-AF4B-62A9ECD8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E5DEB-C50C-4788-BB7A-6120AC1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30F78-C406-4DC9-94CB-18C2F3F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C6672-5139-44DB-AF39-3C5E9C3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050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lowest risk-aware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CCCBC-4D12-438B-9E30-7601A3F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AE9BF-9104-4AD9-9FB3-37593374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BC051-7150-4256-BF50-906BB2BD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few expansions, weak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CCF83-BD5A-4E2D-AC1A-1D6784D6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4F295-1CD5-466F-BBFB-62C8F4B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Multi-agent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10169-1EDF-404B-9AE3-699714C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zero shared corridors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DF4C3-C25D-4F94-80DB-243FB79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97AD3-7595-46FA-90D7-18D7D59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Genetic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0D419-BF2B-4560-9DDB-EE7B24D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624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fitness improved 5.8%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170E1-DC44-45FD-9BA8-FA93042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20 search runs  •  5 scenarios  •  fixed seeds  •  CSV evidence</a:t>
            </a:r>
          </a:p>
        </p:txBody>
      </p:sp>
    </p:spTree>
    <p:extLst>
      <p:ext uri="{BB962C8B-B14F-4D97-AF65-F5344CB8AC3E}">
        <p14:creationId xmlns:p14="http://schemas.microsoft.com/office/powerpoint/2010/main" val="2095278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81D15D-2A74-45B0-A642-1A03F8A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2095-464D-4B22-9A35-4697D91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289D7-CF11-49FC-BDF4-BE73B98A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complete, explainable AI course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3F48A-FFBB-4899-BDE2-B6AFF12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CCC4D-DBB7-4A03-AD5C-87562AB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095E1-40D4-43AB-84F8-7B582F5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B8E9-FA64-4C84-8158-AE7A18EC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8FAB9-C068-4CEA-86DB-DBB18AD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1188C-186C-4857-B6F7-ABD0F2E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BFS, DFS, Greedy and A*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F3D06-DCA5-451C-9308-6C4C98F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F8FC7-AE5F-434E-BA62-D06DC0E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28341-35C6-4384-A7B8-0ED860C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Bayesian hazard 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4AE2C-F2EF-44D7-9944-4D5F5A2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C881C-8486-4010-9E3E-6809606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375DD-64C1-4A3A-82E2-6BC80F2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Dynamic and multi-agent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2778B-0B11-46D0-9DA3-ADC9DDA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EB97A-69D8-4D31-9012-F1CFB2EB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CB037-4481-4B6A-AE03-D0443D23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Genetic resource placement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C83C2-F67D-49DD-B663-FB0D34E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838450" cy="34861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34EFF-2918-4D97-9A4F-7719E95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HONEST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A5D9A-BA87-43B1-88F3-FF08213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05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Simulated sensor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Small graph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No crowd physics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E9193-8A2E-4E3D-8DDC-8AFF3133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6B7A6-0F73-45CF-A0BD-0B7D7DB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READY FOR LIVE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83B1A-1C18-48DE-9790-6020C438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96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BAFD6-ABE0-471D-AEAE-A60C622A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Core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0E99C-40E8-46B7-B931-56CD3E7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 links course theory to a working system whose decisions can be demonstrated, measured and defended.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BBDA8-8345-4CCD-82F2-537DBE4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4101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2026-10-13T15:30:07.1710000Z</dcterms:created>
  <dcterms:modified xsi:type="dcterms:W3CDTF">2026-10-13T15:30:07.1710000Z</dcterms:modified>
</coreProperties>
</file>